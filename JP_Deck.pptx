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sur le nom. JP, ce sont les deux mots que les acheteurs écrivent déjà en commentaire : « je prends ». Notre produit est ce geste, transformé en bouton. Ne pas expliquer plus — la slide-pivot le fera.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clé pour l'investisseur : nous ne créons pas un usage, nous outillons un usage existant. Le risque d'adoption est donc faible — les vendeurs n'ont pas une nouvelle habitude à prendre, ils ont une corvée à supprimer.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problème n° 1 : c'est là qu'est l'argent, et c'est là qu'est l'émotion. Bien montrer que l'arnaque va dans les deux sens — c'est ce qui justifie une plateforme tierce plutôt qu'un simple outil pour vendeurs. Une plateforme qui ne protégerait qu'un seul côté ne réglerait pas le problème de confiance.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l'argument économique du problème : le doute est un coût. Insister sur le dernier paragraphe, il est rarement formulé et il est décisif ici : la honte est un frein aussi puissant que la perte d'argent, et elle explique pourquoi le problème est invisible dans les statistiques — les victimes se taisent.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plainte la plus fréquente des vendeurs — ce n'est pas leur perte la plus lourde, d'où sa place en troisième position. Le temps gagné est un excellent argument de rétention (au bout de deux semaines, il ne revient plus au cahier) mais un mauvais argument d'acquisition : chez un micro-entrepreneur, la soirée n'a pas de prix de marché. On ne vend pas des heures, on vend de l'argent récupéré.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Nouveau problème, absent des versions précédentes du dossier. C'est la troisième face du marché, et elle est nombreuse à Madagascar. La retenir permet d'introduire deux fonctions que personne n'offre ici : l'affiliation et la précommande groupée. C'est aussi ce qui transforme le coût d'acquisition en coût variable — voir la slide sur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crédibilité. Un investisseur sérieux se méfie d'un deck plein de chiffres inventés. Assumer de dire « nous ne savons pas encore, voici comment nous le saurons » vaut mieux qu'une statistique non sourcée. Préciser que le tableau de bord de ces quatre mesures est une exigence contractuelle du cahier des charges, livrée dès le premier direct.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Slide-pivot, à laisser respirer. Marquer un silence après « un bouton ». Les commentaires barrés à gauche se rassemblent en un seul geste à droite : c'est tout le produit en une image. Enchaîner immédiatement sur la slide suivante — le bouton est le mécanisme, la confiance est la valeur.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centrale du deck. Chaque puce est l'antidote d'une arnaque décrite en slide 3. Si l'interlocuteur ne retient qu'une chose, c'est celle-ci. Lui donner du temps. Insister sur « litiges signalés à JP, jamais en face à face » : la confrontation directe est socialement coûteuse ici, et c'est pour cela que les gens abandonnent au lieu de réclamer.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démonstration. Suivre les cinq étapes avec le doigt sur l'écran. Insister sur l'étape 3 : la réservation temporaire du stock est ce qui empêche la survente pendant un direct où tout part en même temps — c'est le point technique le plus critique du produit, et un critère de recette bloquant. Les 30 secondes sont une exigence technique, pas la promesse commerciale.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slide qui convainc. Ne pas lire les huit lignes : en choisir trois selon l'interlocuteur. Pour un investisseur, « encaisser » et « le lendemain ». Pour un vendeur pilote, « prendre la commande » et « travail après le direct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Anticipe deux objections d'un coup. La première : « et si le vendeur ne fait pas de direct ce soir ? ». La seconde, celle d'un investisseur averti : « vous devenez un TikTok de plus, sans défendabilité ». La règle en encadré est la réponse, et elle doit être énoncée telle quelle — c'est une contrainte de conception inscrite au cahier des charges, pas une intention. Ajouter que le contenu est le seul levier qui fasse baisser le coût d'acquisition, qui est le poste dominant du budget.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meilleure slide du dossier pour un investisseur qui cherche l'efficacité du produit. Contre « un paiement envoyé, puis plus de nouvelles » (slide 3), rien ne vaut un fil rempli de gens qui ouvrent leurs colis. Préciser que le fil d'unboxings est consultable sans compte : c'est la meilleure page d'accueil possible pour quelqu'un qui doute de la plateforme. Le montant du crédit est une hypothèse à calibrer au pilote.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déblocage le plus concret pour recruter des créatrices : on supprime la seule barrière réelle. Et cela correspond à un usage informel qui existe déjà — les commandes groupées entre amies, faites à la main sur Messenger. Le remboursement automatique est une exigence bloquante du cahier des charges : sans lui, la précommande reproduirait exactement l'arnaque que JP combat.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Axe absent des versions précédentes du dossier. Il donne aussi un usage réel au paiement par carte, qui n'en avait aucun. À présenter comme une hypothèse forte à mesurer, pas comme un acquis : si le panier moyen d'une commande-cadeau est nettement supérieur, cela devient un axe stratégique à part entière.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que ce n'est pas une application « avec trois menus », mais trois produits qui ont chacun leur logique. Le vendeur vient chercher du chiffre. L'acheteuse vient chercher de la confiance. La créatrice vient chercher un revenu sans capital. Trois discours de vente différents — ne jamais les mélanger en rendez-vous.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 souvent sous-estimé et pourtant décisif : les frais de livraison peuvent dépasser la marge sur un petit article. Le point de retrait est ce qui rend le panier à faible montant économiquement viable — et donc ce qui rend la fréquence d'achat possible. Le premier point, l'adresse facultative, est mis en tête volontairement : c'est un frein de confiance, pas un frein de coût.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moteur de rétention, et donc l'argument de défendabilité. Un vendeur qui a construit sa base d'abonnés et son programme de fidélité sur JP ne repart pas ailleurs. Ses clients non plus. Le dernier point est important : nous refusons la surenchère de notifications, parce qu'un utilisateur qui coupe tout nous fait perdre les notifications utiles — colis arrivé, code de retrait.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dérouler les huit. En présenter deux, selon l'interlocuteur : pour un investisseur, l'unboxing (point 3) et la créatrice sans capital (point 4), parce que ce sont les deux qui font baisser le coût d'acquisition. Les autres montrent la profondeur de la feuille de route.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vertical est une force, pas une limite. C'est ce qui permet de battre un généraliste sur l'expérience, et de recruter les vendeurs par le bouche-à-oreille dans une communauté déjà connectée entre elle.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Ordonner par certitude : la commission est le modèle, le reste est de l'expansion. Assumer l'encadré plutôt que de le taire — un investisseur qui connaît le marché africain sait que la publicité display n'y finance rien avant très longtemps ; le dire nous-mêmes est un signe de sérieux. L'affiliation en position 2 est importante : elle transforme le coût d'acquisition en coût variable, payé uniquement sur une vente réalisée.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à sortir quand l'objection « qu'est-ce qui empêche quelqu'un de vous copier ? » arrive — elle arrive toujours. La bonne réponse n'est jamais « notre technologie ». Elle est : ce qui s'accumule. Le troisième point est le plus fort à long terme, et c'est aussi ce qui fonde la ligne « insights marché » du modèle économique.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Assumer cette slide plutôt que la cacher : elle montre que nous savons quelles sont les questions ouvertes, ce qu'un investisseur cherche précisément à savoir avant de financer une phase de validation. Si l'on ne doit en citer qu'une : le prépaiement. C'est la mesure qui conditionne le plus lourdement l'architecture du produit.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la plus importante pour l'investisseur : dire clairement où va l'argent et où est le risque. Ne pas annoncer un montant tant que le plan de lancement n'est pas arrêté — proposer plutôt de construire ensemble deux scénarios et de les chiffrer. Assumer que l'acquisition est le poste dominant est un signe de lucidité : un déploiement de marketplace se gagne sur l'acquisition, pas sur le code. Et assumer le paragraphe en italique : annoncer soi-même la tension de délai vaut infiniment mieux que de la faire découvrir au troisième mois.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sur une demande précise. « Une seule phase à financer aujourd'hui » désamorce la crainte d'un projet tentaculaire. Et fermer la boucle sur le nom : JP, c'est le geste de l'acheteur — tout le produit tient dans ces deux mots.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2191695"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1417320"/>
            <a:ext cx="8229600" cy="292608"/>
          </a:xfrm>
          <a:prstGeom prst="rect">
            <a:avLst/>
          </a:prstGeom>
          <a:noFill/>
        </p:spPr>
        <p:txBody>
          <a:bodyPr wrap="square" anchor="t" lIns="0" rIns="0" tIns="0" bIns="0"/>
          <a:lstStyle/>
          <a:p>
            <a:r>
              <a:rPr sz="1100" b="1" i="0" spc="240">
                <a:solidFill>
                  <a:srgbClr val="A99AA4"/>
                </a:solidFill>
                <a:latin typeface="Consolas"/>
              </a:rPr>
              <a:t>MADAGASCAR · MODE · BEAUTÉ · CHAUSSURES</a:t>
            </a:r>
          </a:p>
        </p:txBody>
      </p:sp>
      <p:sp>
        <p:nvSpPr>
          <p:cNvPr id="6" name="TextBox 5"/>
          <p:cNvSpPr txBox="1"/>
          <p:nvPr/>
        </p:nvSpPr>
        <p:spPr>
          <a:xfrm>
            <a:off x="777240" y="1755648"/>
            <a:ext cx="6400800" cy="1828800"/>
          </a:xfrm>
          <a:prstGeom prst="rect">
            <a:avLst/>
          </a:prstGeom>
          <a:noFill/>
        </p:spPr>
        <p:txBody>
          <a:bodyPr wrap="square" anchor="t" lIns="0" rIns="0" tIns="0" bIns="0"/>
          <a:lstStyle/>
          <a:p>
            <a:pPr>
              <a:lnSpc>
                <a:spcPct val="92000"/>
              </a:lnSpc>
            </a:pPr>
            <a:r>
              <a:rPr sz="14800" b="1" i="0" spc="-350">
                <a:solidFill>
                  <a:srgbClr val="F3E9EE"/>
                </a:solidFill>
                <a:latin typeface="Georgia"/>
              </a:rPr>
              <a:t>JP</a:t>
            </a:r>
          </a:p>
        </p:txBody>
      </p:sp>
      <p:sp>
        <p:nvSpPr>
          <p:cNvPr id="7" name="TextBox 6"/>
          <p:cNvSpPr txBox="1"/>
          <p:nvPr/>
        </p:nvSpPr>
        <p:spPr>
          <a:xfrm>
            <a:off x="777240" y="3950208"/>
            <a:ext cx="7315200" cy="777240"/>
          </a:xfrm>
          <a:prstGeom prst="rect">
            <a:avLst/>
          </a:prstGeom>
          <a:noFill/>
        </p:spPr>
        <p:txBody>
          <a:bodyPr wrap="square" anchor="t" lIns="0" rIns="0" tIns="0" bIns="0"/>
          <a:lstStyle/>
          <a:p>
            <a:r>
              <a:rPr sz="4800" b="1" i="0" spc="-100">
                <a:solidFill>
                  <a:srgbClr val="E4306E"/>
                </a:solidFill>
                <a:latin typeface="Georgia"/>
              </a:rPr>
              <a:t>Je prends.</a:t>
            </a:r>
          </a:p>
        </p:txBody>
      </p:sp>
      <p:sp>
        <p:nvSpPr>
          <p:cNvPr id="8" name="Rectangle 7"/>
          <p:cNvSpPr/>
          <p:nvPr/>
        </p:nvSpPr>
        <p:spPr>
          <a:xfrm>
            <a:off x="777240" y="4919472"/>
            <a:ext cx="2011680" cy="1905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9" name="TextBox 8"/>
          <p:cNvSpPr txBox="1"/>
          <p:nvPr/>
        </p:nvSpPr>
        <p:spPr>
          <a:xfrm>
            <a:off x="777240" y="5138928"/>
            <a:ext cx="7315200" cy="457200"/>
          </a:xfrm>
          <a:prstGeom prst="rect">
            <a:avLst/>
          </a:prstGeom>
          <a:noFill/>
        </p:spPr>
        <p:txBody>
          <a:bodyPr wrap="square" anchor="t" lIns="0" rIns="0" tIns="0" bIns="0"/>
          <a:lstStyle/>
          <a:p>
            <a:r>
              <a:rPr sz="1900" b="0" i="0">
                <a:solidFill>
                  <a:srgbClr val="F3E9EE"/>
                </a:solidFill>
                <a:latin typeface="Trebuchet MS"/>
              </a:rPr>
              <a:t>Le direct devient une boutique.</a:t>
            </a:r>
          </a:p>
        </p:txBody>
      </p:sp>
      <p:sp>
        <p:nvSpPr>
          <p:cNvPr id="10" name="TextBox 9"/>
          <p:cNvSpPr txBox="1"/>
          <p:nvPr/>
        </p:nvSpPr>
        <p:spPr>
          <a:xfrm>
            <a:off x="777240" y="5870448"/>
            <a:ext cx="8229600" cy="548640"/>
          </a:xfrm>
          <a:prstGeom prst="rect">
            <a:avLst/>
          </a:prstGeom>
          <a:noFill/>
        </p:spPr>
        <p:txBody>
          <a:bodyPr wrap="square" anchor="t" lIns="0" rIns="0" tIns="0" bIns="0"/>
          <a:lstStyle/>
          <a:p>
            <a:pPr>
              <a:lnSpc>
                <a:spcPct val="135000"/>
              </a:lnSpc>
            </a:pPr>
            <a:r>
              <a:rPr sz="1050" b="0" i="0" spc="140">
                <a:solidFill>
                  <a:srgbClr val="A99AA4"/>
                </a:solidFill>
                <a:latin typeface="Consolas"/>
              </a:rPr>
              <a:t>DOSSIER DE PRÉSENTATION
</a:t>
            </a:r>
            <a:r>
              <a:rPr sz="1050" b="0" i="0" spc="140">
                <a:solidFill>
                  <a:srgbClr val="6B5C67"/>
                </a:solidFill>
                <a:latin typeface="Consolas"/>
              </a:rPr>
              <a:t>INVESTISSEURS &amp; PARTENAIRES</a:t>
            </a:r>
          </a:p>
        </p:txBody>
      </p:sp>
      <p:sp>
        <p:nvSpPr>
          <p:cNvPr id="11" name="Rounded Rectangle 10"/>
          <p:cNvSpPr/>
          <p:nvPr/>
        </p:nvSpPr>
        <p:spPr>
          <a:xfrm>
            <a:off x="8305495" y="2514600"/>
            <a:ext cx="3108960" cy="1051560"/>
          </a:xfrm>
          <a:prstGeom prst="roundRect">
            <a:avLst>
              <a:gd name="adj" fmla="val 28000"/>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r>
              <a:rPr sz="2200" b="1" i="0" spc="200">
                <a:solidFill>
                  <a:srgbClr val="FFFFFF"/>
                </a:solidFill>
                <a:latin typeface="Trebuchet MS"/>
              </a:rPr>
              <a:t>JE PRENDS</a:t>
            </a:r>
          </a:p>
        </p:txBody>
      </p:sp>
      <p:sp>
        <p:nvSpPr>
          <p:cNvPr id="12" name="TextBox 11"/>
          <p:cNvSpPr txBox="1"/>
          <p:nvPr/>
        </p:nvSpPr>
        <p:spPr>
          <a:xfrm>
            <a:off x="8305495" y="3749039"/>
            <a:ext cx="3108960" cy="365760"/>
          </a:xfrm>
          <a:prstGeom prst="rect">
            <a:avLst/>
          </a:prstGeom>
          <a:noFill/>
        </p:spPr>
        <p:txBody>
          <a:bodyPr wrap="square" anchor="t" lIns="0" rIns="0" tIns="0" bIns="0"/>
          <a:lstStyle/>
          <a:p>
            <a:pPr algn="ctr"/>
            <a:r>
              <a:rPr sz="1150" b="0" i="1">
                <a:solidFill>
                  <a:srgbClr val="A99AA4"/>
                </a:solidFill>
                <a:latin typeface="Trebuchet MS"/>
              </a:rPr>
              <a:t>un geste, pas un commentaire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975335"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02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749808"/>
            <a:ext cx="10637215" cy="365760"/>
          </a:xfrm>
          <a:prstGeom prst="rect">
            <a:avLst/>
          </a:prstGeom>
          <a:noFill/>
        </p:spPr>
        <p:txBody>
          <a:bodyPr wrap="square" anchor="t" lIns="0" rIns="0" tIns="0" bIns="0"/>
          <a:lstStyle/>
          <a:p>
            <a:r>
              <a:rPr sz="1600" b="0" i="0">
                <a:solidFill>
                  <a:srgbClr val="A99AA4"/>
                </a:solidFill>
                <a:latin typeface="Trebuchet MS"/>
              </a:rPr>
              <a:t>Le marché n'est pas à créer</a:t>
            </a:r>
          </a:p>
        </p:txBody>
      </p:sp>
      <p:sp>
        <p:nvSpPr>
          <p:cNvPr id="9" name="TextBox 8"/>
          <p:cNvSpPr txBox="1"/>
          <p:nvPr/>
        </p:nvSpPr>
        <p:spPr>
          <a:xfrm>
            <a:off x="777240" y="1170432"/>
            <a:ext cx="10637215" cy="914400"/>
          </a:xfrm>
          <a:prstGeom prst="rect">
            <a:avLst/>
          </a:prstGeom>
          <a:noFill/>
        </p:spPr>
        <p:txBody>
          <a:bodyPr wrap="square" anchor="t" lIns="0" rIns="0" tIns="0" bIns="0"/>
          <a:lstStyle/>
          <a:p>
            <a:pPr>
              <a:lnSpc>
                <a:spcPct val="102000"/>
              </a:lnSpc>
            </a:pPr>
            <a:r>
              <a:rPr sz="5200" b="1" i="0" spc="-60">
                <a:solidFill>
                  <a:srgbClr val="F3E9EE"/>
                </a:solidFill>
                <a:latin typeface="Georgia"/>
              </a:rPr>
              <a:t>Il est déjà en direct.</a:t>
            </a:r>
          </a:p>
        </p:txBody>
      </p:sp>
      <p:sp>
        <p:nvSpPr>
          <p:cNvPr id="10" name="TextBox 9"/>
          <p:cNvSpPr txBox="1"/>
          <p:nvPr/>
        </p:nvSpPr>
        <p:spPr>
          <a:xfrm>
            <a:off x="777240" y="2514600"/>
            <a:ext cx="7680960" cy="1828800"/>
          </a:xfrm>
          <a:prstGeom prst="rect">
            <a:avLst/>
          </a:prstGeom>
          <a:noFill/>
        </p:spPr>
        <p:txBody>
          <a:bodyPr wrap="square" anchor="t" lIns="0" rIns="0" tIns="0" bIns="0"/>
          <a:lstStyle/>
          <a:p>
            <a:pPr>
              <a:lnSpc>
                <a:spcPct val="135000"/>
              </a:lnSpc>
              <a:spcAft>
                <a:spcPts val="1600"/>
              </a:spcAft>
            </a:pPr>
            <a:r>
              <a:rPr sz="1600" b="0" i="0">
                <a:solidFill>
                  <a:srgbClr val="F3E9EE"/>
                </a:solidFill>
                <a:latin typeface="Trebuchet MS"/>
              </a:rPr>
              <a:t>Chaque soir, des vendeuses et des vendeurs présentent leurs articles en direct sur les réseaux sociaux. Les acheteurs sont là. Ils regardent, ils commentent, ils achètent.</a:t>
            </a:r>
          </a:p>
          <a:p>
            <a:pPr>
              <a:lnSpc>
                <a:spcPct val="135000"/>
              </a:lnSpc>
              <a:spcAft>
                <a:spcPts val="1600"/>
              </a:spcAft>
            </a:pPr>
            <a:r>
              <a:rPr sz="1600" b="0" i="0">
                <a:solidFill>
                  <a:srgbClr val="A99AA4"/>
                </a:solidFill>
                <a:latin typeface="Trebuchet MS"/>
              </a:rPr>
              <a:t>Ce qui manque n'est pas la demande.</a:t>
            </a:r>
          </a:p>
        </p:txBody>
      </p:sp>
      <p:sp>
        <p:nvSpPr>
          <p:cNvPr id="11" name="Rectangle 10"/>
          <p:cNvSpPr/>
          <p:nvPr/>
        </p:nvSpPr>
        <p:spPr>
          <a:xfrm>
            <a:off x="777240" y="4434840"/>
            <a:ext cx="7680960" cy="123444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500" b="1" i="0">
                <a:solidFill>
                  <a:srgbClr val="D9552F"/>
                </a:solidFill>
                <a:latin typeface="Trebuchet MS"/>
              </a:rPr>
              <a:t>C'est l'outil.</a:t>
            </a:r>
            <a:r>
              <a:rPr sz="1500" b="0" i="0">
                <a:solidFill>
                  <a:srgbClr val="F3E9EE"/>
                </a:solidFill>
                <a:latin typeface="Trebuchet MS"/>
              </a:rPr>
              <a:t> Un réseau social est fait pour faire parler. Pas pour encaisser, facturer, livrer.</a:t>
            </a:r>
          </a:p>
        </p:txBody>
      </p:sp>
      <p:sp>
        <p:nvSpPr>
          <p:cNvPr id="12" name="Rectangle 11"/>
          <p:cNvSpPr/>
          <p:nvPr/>
        </p:nvSpPr>
        <p:spPr>
          <a:xfrm>
            <a:off x="777240" y="4434840"/>
            <a:ext cx="50292" cy="123444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463003"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03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463040"/>
          </a:xfrm>
          <a:prstGeom prst="rect">
            <a:avLst/>
          </a:prstGeom>
          <a:noFill/>
        </p:spPr>
        <p:txBody>
          <a:bodyPr wrap="square" anchor="t" lIns="0" rIns="0" tIns="0" bIns="0"/>
          <a:lstStyle/>
          <a:p>
            <a:pPr>
              <a:lnSpc>
                <a:spcPct val="102000"/>
              </a:lnSpc>
            </a:pPr>
            <a:r>
              <a:rPr sz="4400" b="1" i="0" spc="-60">
                <a:solidFill>
                  <a:srgbClr val="F3E9EE"/>
                </a:solidFill>
                <a:latin typeface="Georgia"/>
              </a:rPr>
              <a:t>Le risque est porté
par les personnes.</a:t>
            </a:r>
          </a:p>
        </p:txBody>
      </p:sp>
      <p:sp>
        <p:nvSpPr>
          <p:cNvPr id="9" name="TextBox 8"/>
          <p:cNvSpPr txBox="1"/>
          <p:nvPr/>
        </p:nvSpPr>
        <p:spPr>
          <a:xfrm>
            <a:off x="777240" y="2514600"/>
            <a:ext cx="5135727" cy="292608"/>
          </a:xfrm>
          <a:prstGeom prst="rect">
            <a:avLst/>
          </a:prstGeom>
          <a:noFill/>
        </p:spPr>
        <p:txBody>
          <a:bodyPr wrap="square" anchor="t" lIns="0" rIns="0" tIns="0" bIns="0"/>
          <a:lstStyle/>
          <a:p>
            <a:r>
              <a:rPr sz="1050" b="1" i="0" spc="140">
                <a:solidFill>
                  <a:srgbClr val="D9552F"/>
                </a:solidFill>
                <a:latin typeface="Consolas"/>
              </a:rPr>
              <a:t>CÔTÉ ACHETEUR</a:t>
            </a:r>
          </a:p>
        </p:txBody>
      </p:sp>
      <p:sp>
        <p:nvSpPr>
          <p:cNvPr id="10" name="Rectangle 9"/>
          <p:cNvSpPr/>
          <p:nvPr/>
        </p:nvSpPr>
        <p:spPr>
          <a:xfrm>
            <a:off x="777240" y="2825496"/>
            <a:ext cx="5135727" cy="9525"/>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TextBox 10"/>
          <p:cNvSpPr txBox="1"/>
          <p:nvPr/>
        </p:nvSpPr>
        <p:spPr>
          <a:xfrm>
            <a:off x="777240" y="3063240"/>
            <a:ext cx="5135727" cy="1554480"/>
          </a:xfrm>
          <a:prstGeom prst="rect">
            <a:avLst/>
          </a:prstGeom>
          <a:noFill/>
        </p:spPr>
        <p:txBody>
          <a:bodyPr wrap="square" anchor="t" lIns="0" rIns="0" tIns="0" bIns="0"/>
          <a:lstStyle/>
          <a:p>
            <a:pPr>
              <a:lnSpc>
                <a:spcPct val="132000"/>
              </a:lnSpc>
            </a:pPr>
            <a:r>
              <a:rPr sz="1400" b="0" i="0">
                <a:solidFill>
                  <a:srgbClr val="F3E9EE"/>
                </a:solidFill>
                <a:latin typeface="Trebuchet MS"/>
              </a:rPr>
              <a:t>Un paiement envoyé par mobile money vers un numéro personnel. Puis plus de nouvelles. Aucun recours.</a:t>
            </a:r>
          </a:p>
        </p:txBody>
      </p:sp>
      <p:sp>
        <p:nvSpPr>
          <p:cNvPr id="12" name="TextBox 11"/>
          <p:cNvSpPr txBox="1"/>
          <p:nvPr/>
        </p:nvSpPr>
        <p:spPr>
          <a:xfrm>
            <a:off x="6278727" y="2514600"/>
            <a:ext cx="5135727" cy="292608"/>
          </a:xfrm>
          <a:prstGeom prst="rect">
            <a:avLst/>
          </a:prstGeom>
          <a:noFill/>
        </p:spPr>
        <p:txBody>
          <a:bodyPr wrap="square" anchor="t" lIns="0" rIns="0" tIns="0" bIns="0"/>
          <a:lstStyle/>
          <a:p>
            <a:r>
              <a:rPr sz="1050" b="1" i="0" spc="140">
                <a:solidFill>
                  <a:srgbClr val="D9552F"/>
                </a:solidFill>
                <a:latin typeface="Consolas"/>
              </a:rPr>
              <a:t>CÔTÉ VENDEUR</a:t>
            </a:r>
          </a:p>
        </p:txBody>
      </p:sp>
      <p:sp>
        <p:nvSpPr>
          <p:cNvPr id="13" name="Rectangle 12"/>
          <p:cNvSpPr/>
          <p:nvPr/>
        </p:nvSpPr>
        <p:spPr>
          <a:xfrm>
            <a:off x="6278727" y="2825496"/>
            <a:ext cx="5135727" cy="9525"/>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4" name="TextBox 13"/>
          <p:cNvSpPr txBox="1"/>
          <p:nvPr/>
        </p:nvSpPr>
        <p:spPr>
          <a:xfrm>
            <a:off x="6278727" y="3063240"/>
            <a:ext cx="5135727" cy="1554480"/>
          </a:xfrm>
          <a:prstGeom prst="rect">
            <a:avLst/>
          </a:prstGeom>
          <a:noFill/>
        </p:spPr>
        <p:txBody>
          <a:bodyPr wrap="square" anchor="t" lIns="0" rIns="0" tIns="0" bIns="0"/>
          <a:lstStyle/>
          <a:p>
            <a:pPr>
              <a:lnSpc>
                <a:spcPct val="132000"/>
              </a:lnSpc>
            </a:pPr>
            <a:r>
              <a:rPr sz="1400" b="0" i="0">
                <a:solidFill>
                  <a:srgbClr val="F3E9EE"/>
                </a:solidFill>
                <a:latin typeface="Trebuchet MS"/>
              </a:rPr>
              <a:t>Des articles réservés en commentaire, puis jamais payés. Le stock est immobilisé, invendable pendant des jours, pour une commande fantôme.</a:t>
            </a:r>
          </a:p>
        </p:txBody>
      </p:sp>
      <p:sp>
        <p:nvSpPr>
          <p:cNvPr id="15" name="Rectangle 14"/>
          <p:cNvSpPr/>
          <p:nvPr/>
        </p:nvSpPr>
        <p:spPr>
          <a:xfrm>
            <a:off x="777240" y="4892040"/>
            <a:ext cx="10637215" cy="100584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500" b="1" i="0">
                <a:solidFill>
                  <a:srgbClr val="D9552F"/>
                </a:solidFill>
                <a:latin typeface="Trebuchet MS"/>
              </a:rPr>
              <a:t>Au milieu : rien.</a:t>
            </a:r>
            <a:r>
              <a:rPr sz="1500" b="0" i="0">
                <a:solidFill>
                  <a:srgbClr val="F3E9EE"/>
                </a:solidFill>
                <a:latin typeface="Trebuchet MS"/>
              </a:rPr>
              <a:t> Pas de contrat, pas de trace, pas d'arbitre. Une capture d'écran ne vaut rien.</a:t>
            </a:r>
          </a:p>
        </p:txBody>
      </p:sp>
      <p:sp>
        <p:nvSpPr>
          <p:cNvPr id="16" name="Rectangle 15"/>
          <p:cNvSpPr/>
          <p:nvPr/>
        </p:nvSpPr>
        <p:spPr>
          <a:xfrm>
            <a:off x="777240" y="4892040"/>
            <a:ext cx="50292" cy="100584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950671"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04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371600"/>
          </a:xfrm>
          <a:prstGeom prst="rect">
            <a:avLst/>
          </a:prstGeom>
          <a:noFill/>
        </p:spPr>
        <p:txBody>
          <a:bodyPr wrap="square" anchor="t" lIns="0" rIns="0" tIns="0" bIns="0"/>
          <a:lstStyle/>
          <a:p>
            <a:pPr>
              <a:lnSpc>
                <a:spcPct val="102000"/>
              </a:lnSpc>
            </a:pPr>
            <a:r>
              <a:rPr sz="3800" b="1" i="0" spc="-60">
                <a:solidFill>
                  <a:srgbClr val="F3E9EE"/>
                </a:solidFill>
                <a:latin typeface="Georgia"/>
              </a:rPr>
              <a:t>Le plafond n'est pas le pouvoir d'achat.
C'est le doute.</a:t>
            </a:r>
          </a:p>
        </p:txBody>
      </p:sp>
      <p:sp>
        <p:nvSpPr>
          <p:cNvPr id="9" name="TextBox 8"/>
          <p:cNvSpPr txBox="1"/>
          <p:nvPr/>
        </p:nvSpPr>
        <p:spPr>
          <a:xfrm>
            <a:off x="777240" y="2212848"/>
            <a:ext cx="10637215" cy="457200"/>
          </a:xfrm>
          <a:prstGeom prst="rect">
            <a:avLst/>
          </a:prstGeom>
          <a:noFill/>
        </p:spPr>
        <p:txBody>
          <a:bodyPr wrap="square" anchor="t" lIns="0" rIns="0" tIns="0" bIns="0"/>
          <a:lstStyle/>
          <a:p>
            <a:pPr>
              <a:lnSpc>
                <a:spcPct val="130000"/>
              </a:lnSpc>
            </a:pPr>
            <a:r>
              <a:rPr sz="1450" b="0" i="0">
                <a:solidFill>
                  <a:srgbClr val="F3E9EE"/>
                </a:solidFill>
                <a:latin typeface="Trebuchet MS"/>
              </a:rPr>
              <a:t>Pas de facture. Pas d'historique de commande. Pas de suivi de livraison. Pas d'avis vérifié.</a:t>
            </a:r>
          </a:p>
        </p:txBody>
      </p:sp>
      <p:sp>
        <p:nvSpPr>
          <p:cNvPr id="10" name="TextBox 9"/>
          <p:cNvSpPr txBox="1"/>
          <p:nvPr/>
        </p:nvSpPr>
        <p:spPr>
          <a:xfrm>
            <a:off x="777240" y="2761488"/>
            <a:ext cx="10637215" cy="411480"/>
          </a:xfrm>
          <a:prstGeom prst="rect">
            <a:avLst/>
          </a:prstGeom>
          <a:noFill/>
        </p:spPr>
        <p:txBody>
          <a:bodyPr wrap="square" anchor="t" lIns="0" rIns="0" tIns="0" bIns="0"/>
          <a:lstStyle/>
          <a:p>
            <a:r>
              <a:rPr sz="1450" b="0" i="0">
                <a:solidFill>
                  <a:srgbClr val="F3E9EE"/>
                </a:solidFill>
                <a:latin typeface="Trebuchet MS"/>
              </a:rPr>
              <a:t>Alors l'acheteur fait la seule chose rationnelle : </a:t>
            </a:r>
            <a:r>
              <a:rPr sz="1450" b="1" i="0">
                <a:solidFill>
                  <a:srgbClr val="D9552F"/>
                </a:solidFill>
                <a:latin typeface="Trebuchet MS"/>
              </a:rPr>
              <a:t>il limite son risque.</a:t>
            </a:r>
          </a:p>
        </p:txBody>
      </p:sp>
      <p:sp>
        <p:nvSpPr>
          <p:cNvPr id="11" name="TextBox 10"/>
          <p:cNvSpPr txBox="1"/>
          <p:nvPr/>
        </p:nvSpPr>
        <p:spPr>
          <a:xfrm>
            <a:off x="777240" y="3346704"/>
            <a:ext cx="10637215" cy="2871216"/>
          </a:xfrm>
          <a:prstGeom prst="rect">
            <a:avLst/>
          </a:prstGeom>
          <a:noFill/>
        </p:spPr>
        <p:txBody>
          <a:bodyPr wrap="square" anchor="t" lIns="0" rIns="0" tIns="0" bIns="0"/>
          <a:lstStyle/>
          <a:p>
            <a:pPr>
              <a:lnSpc>
                <a:spcPct val="122000"/>
              </a:lnSpc>
              <a:spcAft>
                <a:spcPts val="800"/>
              </a:spcAft>
            </a:pPr>
            <a:r>
              <a:rPr sz="1400" b="1" i="0">
                <a:solidFill>
                  <a:srgbClr val="D9552F"/>
                </a:solidFill>
                <a:latin typeface="Consolas"/>
              </a:rPr>
              <a:t>— </a:t>
            </a:r>
            <a:r>
              <a:rPr sz="1400" b="0" i="0">
                <a:solidFill>
                  <a:srgbClr val="F3E9EE"/>
                </a:solidFill>
                <a:latin typeface="Trebuchet MS"/>
              </a:rPr>
              <a:t>Il commande petit.</a:t>
            </a:r>
          </a:p>
          <a:p>
            <a:pPr>
              <a:lnSpc>
                <a:spcPct val="122000"/>
              </a:lnSpc>
              <a:spcAft>
                <a:spcPts val="800"/>
              </a:spcAft>
            </a:pPr>
            <a:r>
              <a:rPr sz="1400" b="1" i="0">
                <a:solidFill>
                  <a:srgbClr val="D9552F"/>
                </a:solidFill>
                <a:latin typeface="Consolas"/>
              </a:rPr>
              <a:t>— </a:t>
            </a:r>
            <a:r>
              <a:rPr sz="1400" b="0" i="0">
                <a:solidFill>
                  <a:srgbClr val="F3E9EE"/>
                </a:solidFill>
                <a:latin typeface="Trebuchet MS"/>
              </a:rPr>
              <a:t>Il commande rarement.</a:t>
            </a:r>
          </a:p>
          <a:p>
            <a:pPr>
              <a:lnSpc>
                <a:spcPct val="122000"/>
              </a:lnSpc>
              <a:spcAft>
                <a:spcPts val="800"/>
              </a:spcAft>
            </a:pPr>
            <a:r>
              <a:rPr sz="1400" b="1" i="0">
                <a:solidFill>
                  <a:srgbClr val="D9552F"/>
                </a:solidFill>
                <a:latin typeface="Consolas"/>
              </a:rPr>
              <a:t>— </a:t>
            </a:r>
            <a:r>
              <a:rPr sz="1400" b="0" i="0">
                <a:solidFill>
                  <a:srgbClr val="F3E9EE"/>
                </a:solidFill>
                <a:latin typeface="Trebuchet MS"/>
              </a:rPr>
              <a:t>Et seulement chez la personne qu'une amie lui a recommandée.</a:t>
            </a:r>
          </a:p>
        </p:txBody>
      </p:sp>
      <p:sp>
        <p:nvSpPr>
          <p:cNvPr id="12" name="Rectangle 11"/>
          <p:cNvSpPr/>
          <p:nvPr/>
        </p:nvSpPr>
        <p:spPr>
          <a:xfrm>
            <a:off x="777240" y="4864608"/>
            <a:ext cx="10637215" cy="109728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350" b="1" i="0">
                <a:solidFill>
                  <a:srgbClr val="D9552F"/>
                </a:solidFill>
                <a:latin typeface="Trebuchet MS"/>
              </a:rPr>
              <a:t>Et le doute n'est pas seulement financier.</a:t>
            </a:r>
            <a:r>
              <a:rPr sz="1350" b="0" i="0">
                <a:solidFill>
                  <a:srgbClr val="F3E9EE"/>
                </a:solidFill>
                <a:latin typeface="Trebuchet MS"/>
              </a:rPr>
              <a:t> Se faire avoir, c'est aussi devoir l'avouer. Beaucoup n'achètent pas pour ne pas avoir à raconter ça — et ceux qui se font avoir ne réclament pas, ils disparaissent.</a:t>
            </a:r>
          </a:p>
        </p:txBody>
      </p:sp>
      <p:sp>
        <p:nvSpPr>
          <p:cNvPr id="13" name="Rectangle 12"/>
          <p:cNvSpPr/>
          <p:nvPr/>
        </p:nvSpPr>
        <p:spPr>
          <a:xfrm>
            <a:off x="777240" y="4864608"/>
            <a:ext cx="50292" cy="10972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2438339"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05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371600"/>
          </a:xfrm>
          <a:prstGeom prst="rect">
            <a:avLst/>
          </a:prstGeom>
          <a:noFill/>
        </p:spPr>
        <p:txBody>
          <a:bodyPr wrap="square" anchor="t" lIns="0" rIns="0" tIns="0" bIns="0"/>
          <a:lstStyle/>
          <a:p>
            <a:pPr>
              <a:lnSpc>
                <a:spcPct val="102000"/>
              </a:lnSpc>
            </a:pPr>
            <a:r>
              <a:rPr sz="3800" b="1" i="0" spc="-60">
                <a:solidFill>
                  <a:srgbClr val="F3E9EE"/>
                </a:solidFill>
                <a:latin typeface="Georgia"/>
              </a:rPr>
              <a:t>Le direct dure une heure.
L'administration dure la soirée.</a:t>
            </a:r>
          </a:p>
        </p:txBody>
      </p:sp>
      <p:sp>
        <p:nvSpPr>
          <p:cNvPr id="9" name="TextBox 8"/>
          <p:cNvSpPr txBox="1"/>
          <p:nvPr/>
        </p:nvSpPr>
        <p:spPr>
          <a:xfrm>
            <a:off x="777240" y="2240280"/>
            <a:ext cx="10637215" cy="457200"/>
          </a:xfrm>
          <a:prstGeom prst="rect">
            <a:avLst/>
          </a:prstGeom>
          <a:noFill/>
        </p:spPr>
        <p:txBody>
          <a:bodyPr wrap="square" anchor="t" lIns="0" rIns="0" tIns="0" bIns="0"/>
          <a:lstStyle/>
          <a:p>
            <a:pPr>
              <a:lnSpc>
                <a:spcPct val="130000"/>
              </a:lnSpc>
            </a:pPr>
            <a:r>
              <a:rPr sz="1500" b="0" i="0">
                <a:solidFill>
                  <a:srgbClr val="A99AA4"/>
                </a:solidFill>
                <a:latin typeface="Trebuchet MS"/>
              </a:rPr>
              <a:t>Après le direct, le vendeur :</a:t>
            </a:r>
          </a:p>
        </p:txBody>
      </p:sp>
      <p:sp>
        <p:nvSpPr>
          <p:cNvPr id="10" name="TextBox 9"/>
          <p:cNvSpPr txBox="1"/>
          <p:nvPr/>
        </p:nvSpPr>
        <p:spPr>
          <a:xfrm>
            <a:off x="777240" y="2697480"/>
            <a:ext cx="10637215" cy="3520440"/>
          </a:xfrm>
          <a:prstGeom prst="rect">
            <a:avLst/>
          </a:prstGeom>
          <a:noFill/>
        </p:spPr>
        <p:txBody>
          <a:bodyPr wrap="square" anchor="t" lIns="0" rIns="0" tIns="0" bIns="0"/>
          <a:lstStyle/>
          <a:p>
            <a:pPr>
              <a:lnSpc>
                <a:spcPct val="122000"/>
              </a:lnSpc>
              <a:spcAft>
                <a:spcPts val="1200"/>
              </a:spcAft>
            </a:pPr>
            <a:r>
              <a:rPr sz="1500" b="1" i="0" spc="60">
                <a:solidFill>
                  <a:srgbClr val="D9552F"/>
                </a:solidFill>
                <a:latin typeface="Consolas"/>
              </a:rPr>
              <a:t>1 </a:t>
            </a:r>
            <a:r>
              <a:rPr sz="1400" b="0" i="0">
                <a:solidFill>
                  <a:srgbClr val="F3E9EE"/>
                </a:solidFill>
                <a:latin typeface="Trebuchet MS"/>
              </a:rPr>
              <a:t>relit des centaines de commentaires pour retrouver qui a dit « je prends », et dans quel ordre ;</a:t>
            </a:r>
          </a:p>
          <a:p>
            <a:pPr>
              <a:lnSpc>
                <a:spcPct val="122000"/>
              </a:lnSpc>
              <a:spcAft>
                <a:spcPts val="1200"/>
              </a:spcAft>
            </a:pPr>
            <a:r>
              <a:rPr sz="1500" b="1" i="0" spc="60">
                <a:solidFill>
                  <a:srgbClr val="D9552F"/>
                </a:solidFill>
                <a:latin typeface="Consolas"/>
              </a:rPr>
              <a:t>2 </a:t>
            </a:r>
            <a:r>
              <a:rPr sz="1400" b="0" i="0">
                <a:solidFill>
                  <a:srgbClr val="F3E9EE"/>
                </a:solidFill>
                <a:latin typeface="Trebuchet MS"/>
              </a:rPr>
              <a:t>ouvre un message privé par client — la taille, l'adresse, le paiement, la disponibilité ;</a:t>
            </a:r>
          </a:p>
          <a:p>
            <a:pPr>
              <a:lnSpc>
                <a:spcPct val="122000"/>
              </a:lnSpc>
              <a:spcAft>
                <a:spcPts val="1200"/>
              </a:spcAft>
            </a:pPr>
            <a:r>
              <a:rPr sz="1500" b="1" i="0" spc="60">
                <a:solidFill>
                  <a:srgbClr val="D9552F"/>
                </a:solidFill>
                <a:latin typeface="Consolas"/>
              </a:rPr>
              <a:t>3 </a:t>
            </a:r>
            <a:r>
              <a:rPr sz="1400" b="0" i="0">
                <a:solidFill>
                  <a:srgbClr val="F3E9EE"/>
                </a:solidFill>
                <a:latin typeface="Trebuchet MS"/>
              </a:rPr>
              <a:t>recopie tout à la main dans un cahier ou un tableur ;</a:t>
            </a:r>
          </a:p>
          <a:p>
            <a:pPr>
              <a:lnSpc>
                <a:spcPct val="122000"/>
              </a:lnSpc>
              <a:spcAft>
                <a:spcPts val="1200"/>
              </a:spcAft>
            </a:pPr>
            <a:r>
              <a:rPr sz="1500" b="1" i="0" spc="60">
                <a:solidFill>
                  <a:srgbClr val="D9552F"/>
                </a:solidFill>
                <a:latin typeface="Consolas"/>
              </a:rPr>
              <a:t>4 </a:t>
            </a:r>
            <a:r>
              <a:rPr sz="1400" b="0" i="0">
                <a:solidFill>
                  <a:srgbClr val="F3E9EE"/>
                </a:solidFill>
                <a:latin typeface="Trebuchet MS"/>
              </a:rPr>
              <a:t>relance ceux qui ne répondent plus.</a:t>
            </a:r>
          </a:p>
        </p:txBody>
      </p:sp>
      <p:sp>
        <p:nvSpPr>
          <p:cNvPr id="11" name="Rectangle 10"/>
          <p:cNvSpPr/>
          <p:nvPr/>
        </p:nvSpPr>
        <p:spPr>
          <a:xfrm>
            <a:off x="777240" y="5074920"/>
            <a:ext cx="10637215" cy="77724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600" b="1" i="0">
                <a:solidFill>
                  <a:srgbClr val="D9552F"/>
                </a:solidFill>
                <a:latin typeface="Trebuchet MS"/>
              </a:rPr>
              <a:t>L'essentiel du travail arrive après la vente.</a:t>
            </a:r>
          </a:p>
        </p:txBody>
      </p:sp>
      <p:sp>
        <p:nvSpPr>
          <p:cNvPr id="12" name="Rectangle 11"/>
          <p:cNvSpPr/>
          <p:nvPr/>
        </p:nvSpPr>
        <p:spPr>
          <a:xfrm>
            <a:off x="777240" y="5074920"/>
            <a:ext cx="50292" cy="77724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2926006"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06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463040"/>
          </a:xfrm>
          <a:prstGeom prst="rect">
            <a:avLst/>
          </a:prstGeom>
          <a:noFill/>
        </p:spPr>
        <p:txBody>
          <a:bodyPr wrap="square" anchor="t" lIns="0" rIns="0" tIns="0" bIns="0"/>
          <a:lstStyle/>
          <a:p>
            <a:pPr>
              <a:lnSpc>
                <a:spcPct val="102000"/>
              </a:lnSpc>
            </a:pPr>
            <a:r>
              <a:rPr sz="4400" b="1" i="0" spc="-60">
                <a:solidFill>
                  <a:srgbClr val="F3E9EE"/>
                </a:solidFill>
                <a:latin typeface="Georgia"/>
              </a:rPr>
              <a:t>Elle a une audience.
Elle ne vend rien.</a:t>
            </a:r>
          </a:p>
        </p:txBody>
      </p:sp>
      <p:sp>
        <p:nvSpPr>
          <p:cNvPr id="9" name="TextBox 8"/>
          <p:cNvSpPr txBox="1"/>
          <p:nvPr/>
        </p:nvSpPr>
        <p:spPr>
          <a:xfrm>
            <a:off x="777240" y="2487168"/>
            <a:ext cx="8778240" cy="1371600"/>
          </a:xfrm>
          <a:prstGeom prst="rect">
            <a:avLst/>
          </a:prstGeom>
          <a:noFill/>
        </p:spPr>
        <p:txBody>
          <a:bodyPr wrap="square" anchor="t" lIns="0" rIns="0" tIns="0" bIns="0"/>
          <a:lstStyle/>
          <a:p>
            <a:pPr>
              <a:lnSpc>
                <a:spcPct val="132000"/>
              </a:lnSpc>
            </a:pPr>
            <a:r>
              <a:rPr sz="1500" b="0" i="0">
                <a:solidFill>
                  <a:srgbClr val="F3E9EE"/>
                </a:solidFill>
                <a:latin typeface="Trebuchet MS"/>
              </a:rPr>
              <a:t>Des créatrices filment leurs tenues, cumulent une audience réelle, et font </a:t>
            </a:r>
            <a:r>
              <a:rPr sz="1500" b="1" i="0">
                <a:solidFill>
                  <a:srgbClr val="D9552F"/>
                </a:solidFill>
                <a:latin typeface="Trebuchet MS"/>
              </a:rPr>
              <a:t>gratuitement</a:t>
            </a:r>
            <a:r>
              <a:rPr sz="1500" b="0" i="0">
                <a:solidFill>
                  <a:srgbClr val="F3E9EE"/>
                </a:solidFill>
                <a:latin typeface="Trebuchet MS"/>
              </a:rPr>
              <a:t> la promotion de vendeurs qui ne les rémunèrent pas.
</a:t>
            </a:r>
            <a:r>
              <a:rPr sz="1500" b="0" i="0">
                <a:solidFill>
                  <a:srgbClr val="A99AA4"/>
                </a:solidFill>
                <a:latin typeface="Trebuchet MS"/>
              </a:rPr>
              <a:t>Ce qui leur manque n'est ni le talent, ni les abonnés.</a:t>
            </a:r>
          </a:p>
        </p:txBody>
      </p:sp>
      <p:sp>
        <p:nvSpPr>
          <p:cNvPr id="10" name="TextBox 9"/>
          <p:cNvSpPr txBox="1"/>
          <p:nvPr/>
        </p:nvSpPr>
        <p:spPr>
          <a:xfrm>
            <a:off x="777240" y="3858768"/>
            <a:ext cx="9326880" cy="914400"/>
          </a:xfrm>
          <a:prstGeom prst="rect">
            <a:avLst/>
          </a:prstGeom>
          <a:noFill/>
        </p:spPr>
        <p:txBody>
          <a:bodyPr wrap="square" anchor="t" lIns="0" rIns="0" tIns="0" bIns="0"/>
          <a:lstStyle/>
          <a:p>
            <a:pPr>
              <a:lnSpc>
                <a:spcPct val="128000"/>
              </a:lnSpc>
            </a:pPr>
            <a:r>
              <a:rPr sz="1500" b="1" i="0">
                <a:solidFill>
                  <a:srgbClr val="D9552F"/>
                </a:solidFill>
                <a:latin typeface="Trebuchet MS"/>
              </a:rPr>
              <a:t>C'est le capital. </a:t>
            </a:r>
            <a:r>
              <a:rPr sz="1400" b="0" i="0">
                <a:solidFill>
                  <a:srgbClr val="F3E9EE"/>
                </a:solidFill>
                <a:latin typeface="Trebuchet MS"/>
              </a:rPr>
              <a:t>Pour vendre, il faudrait acheter du stock d'avance — sans savoir s'il partira. Elles n'ont pas cet argent. Alors elles ne vendent pas.</a:t>
            </a:r>
          </a:p>
        </p:txBody>
      </p:sp>
      <p:sp>
        <p:nvSpPr>
          <p:cNvPr id="11" name="Rectangle 10"/>
          <p:cNvSpPr/>
          <p:nvPr/>
        </p:nvSpPr>
        <p:spPr>
          <a:xfrm>
            <a:off x="777240" y="5029200"/>
            <a:ext cx="10637215" cy="8229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500" b="1" i="0">
                <a:solidFill>
                  <a:srgbClr val="D9552F"/>
                </a:solidFill>
                <a:latin typeface="Trebuchet MS"/>
              </a:rPr>
              <a:t>Une audience réelle reste sans valeur économique pour celle qui la détient.</a:t>
            </a:r>
          </a:p>
        </p:txBody>
      </p:sp>
      <p:sp>
        <p:nvSpPr>
          <p:cNvPr id="12" name="Rectangle 11"/>
          <p:cNvSpPr/>
          <p:nvPr/>
        </p:nvSpPr>
        <p:spPr>
          <a:xfrm>
            <a:off x="777240" y="5029200"/>
            <a:ext cx="50292" cy="82296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3413674" cy="6858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D9552F"/>
                </a:solidFill>
                <a:latin typeface="Consolas"/>
              </a:rPr>
              <a:t>ACTE I · LE PROBLÈME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07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200" b="1" i="0" spc="-60">
                <a:solidFill>
                  <a:srgbClr val="F3E9EE"/>
                </a:solidFill>
                <a:latin typeface="Georgia"/>
              </a:rPr>
              <a:t>Ce que nous allons mesurer.</a:t>
            </a:r>
          </a:p>
        </p:txBody>
      </p:sp>
      <p:sp>
        <p:nvSpPr>
          <p:cNvPr id="9" name="TextBox 8"/>
          <p:cNvSpPr txBox="1"/>
          <p:nvPr/>
        </p:nvSpPr>
        <p:spPr>
          <a:xfrm>
            <a:off x="777240" y="1938528"/>
            <a:ext cx="10637215" cy="457200"/>
          </a:xfrm>
          <a:prstGeom prst="rect">
            <a:avLst/>
          </a:prstGeom>
          <a:noFill/>
        </p:spPr>
        <p:txBody>
          <a:bodyPr wrap="square" anchor="t" lIns="0" rIns="0" tIns="0" bIns="0"/>
          <a:lstStyle/>
          <a:p>
            <a:pPr>
              <a:lnSpc>
                <a:spcPct val="130000"/>
              </a:lnSpc>
            </a:pPr>
            <a:r>
              <a:rPr sz="1350" b="0" i="0">
                <a:solidFill>
                  <a:srgbClr val="A99AA4"/>
                </a:solidFill>
                <a:latin typeface="Trebuchet MS"/>
              </a:rPr>
              <a:t>Nous ne publions pas de chiffres que nous n'avons pas mesurés. Voici les quatre indicateurs que le pilote instrumentera dès le premier direct.</a:t>
            </a:r>
          </a:p>
        </p:txBody>
      </p:sp>
      <p:graphicFrame>
        <p:nvGraphicFramePr>
          <p:cNvPr id="10" name="Table 9"/>
          <p:cNvGraphicFramePr>
            <a:graphicFrameLocks noGrp="1"/>
          </p:cNvGraphicFramePr>
          <p:nvPr/>
        </p:nvGraphicFramePr>
        <p:xfrm>
          <a:off x="777240" y="2697480"/>
          <a:ext cx="10637215" cy="2834640"/>
        </p:xfrm>
        <a:graphic>
          <a:graphicData uri="http://schemas.openxmlformats.org/drawingml/2006/table">
            <a:tbl>
              <a:tblPr firstRow="1" bandRow="0">
                <a:tableStyleId>{2D5ABB26-0587-4C30-8999-92F81FD0307C}</a:tableStyleId>
              </a:tblPr>
              <a:tblGrid>
                <a:gridCol w="4663440"/>
                <a:gridCol w="5973775"/>
              </a:tblGrid>
              <a:tr h="566928">
                <a:tc>
                  <a:txBody>
                    <a:bodyPr wrap="square"/>
                    <a:lstStyle/>
                    <a:p>
                      <a:pPr>
                        <a:lnSpc>
                          <a:spcPct val="114000"/>
                        </a:lnSpc>
                      </a:pPr>
                      <a:r>
                        <a:rPr sz="1000" b="1" i="0" spc="120">
                          <a:solidFill>
                            <a:srgbClr val="D9552F"/>
                          </a:solidFill>
                          <a:latin typeface="Consolas"/>
                        </a:rPr>
                        <a:t>INDICATEUR</a:t>
                      </a:r>
                    </a:p>
                  </a:txBody>
                  <a:tcPr marL="128016" marR="128016" marT="64008" marB="64008" anchor="ctr">
                    <a:solidFill>
                      <a:srgbClr val="1A1220"/>
                    </a:solidFill>
                  </a:tcPr>
                </a:tc>
                <a:tc>
                  <a:txBody>
                    <a:bodyPr wrap="square"/>
                    <a:lstStyle/>
                    <a:p>
                      <a:pPr>
                        <a:lnSpc>
                          <a:spcPct val="114000"/>
                        </a:lnSpc>
                      </a:pPr>
                      <a:r>
                        <a:rPr sz="1000" b="1" i="0" spc="120">
                          <a:solidFill>
                            <a:srgbClr val="D9552F"/>
                          </a:solidFill>
                          <a:latin typeface="Consolas"/>
                        </a:rPr>
                        <a:t>CE QU'IL RÉVÈLE</a:t>
                      </a:r>
                    </a:p>
                  </a:txBody>
                  <a:tcPr marL="128016" marR="128016" marT="64008" marB="64008" anchor="ctr">
                    <a:solidFill>
                      <a:srgbClr val="1A1220"/>
                    </a:solidFill>
                  </a:tcPr>
                </a:tc>
              </a:tr>
              <a:tr h="566928">
                <a:tc>
                  <a:txBody>
                    <a:bodyPr wrap="square"/>
                    <a:lstStyle/>
                    <a:p>
                      <a:pPr>
                        <a:lnSpc>
                          <a:spcPct val="114000"/>
                        </a:lnSpc>
                      </a:pPr>
                      <a:r>
                        <a:rPr sz="1250" b="1" i="0">
                          <a:solidFill>
                            <a:srgbClr val="F3E9EE"/>
                          </a:solidFill>
                          <a:latin typeface="Trebuchet MS"/>
                        </a:rPr>
                        <a:t>Commandes annoncées en direct, jamais conclues</a:t>
                      </a:r>
                    </a:p>
                  </a:txBody>
                  <a:tcPr marL="128016" marR="128016" marT="64008" marB="64008" anchor="ctr">
                    <a:solidFill>
                      <a:srgbClr val="261B2E"/>
                    </a:solidFill>
                  </a:tcPr>
                </a:tc>
                <a:tc>
                  <a:txBody>
                    <a:bodyPr wrap="square"/>
                    <a:lstStyle/>
                    <a:p>
                      <a:pPr>
                        <a:lnSpc>
                          <a:spcPct val="114000"/>
                        </a:lnSpc>
                      </a:pPr>
                      <a:r>
                        <a:rPr sz="1250" b="0" i="0">
                          <a:solidFill>
                            <a:srgbClr val="A99AA4"/>
                          </a:solidFill>
                          <a:latin typeface="Trebuchet MS"/>
                        </a:rPr>
                        <a:t>Le chiffre d'affaires qui s'évapore entre l'envie et le paiement</a:t>
                      </a:r>
                    </a:p>
                  </a:txBody>
                  <a:tcPr marL="128016" marR="128016" marT="64008" marB="64008" anchor="ctr">
                    <a:solidFill>
                      <a:srgbClr val="261B2E"/>
                    </a:solidFill>
                  </a:tcPr>
                </a:tc>
              </a:tr>
              <a:tr h="566928">
                <a:tc>
                  <a:txBody>
                    <a:bodyPr wrap="square"/>
                    <a:lstStyle/>
                    <a:p>
                      <a:pPr>
                        <a:lnSpc>
                          <a:spcPct val="114000"/>
                        </a:lnSpc>
                      </a:pPr>
                      <a:r>
                        <a:rPr sz="1250" b="1" i="0">
                          <a:solidFill>
                            <a:srgbClr val="F3E9EE"/>
                          </a:solidFill>
                          <a:latin typeface="Trebuchet MS"/>
                        </a:rPr>
                        <a:t>Temps administratif par heure de direct</a:t>
                      </a:r>
                    </a:p>
                  </a:txBody>
                  <a:tcPr marL="128016" marR="128016" marT="64008" marB="64008" anchor="ctr">
                    <a:solidFill>
                      <a:srgbClr val="1A1220"/>
                    </a:solidFill>
                  </a:tcPr>
                </a:tc>
                <a:tc>
                  <a:txBody>
                    <a:bodyPr wrap="square"/>
                    <a:lstStyle/>
                    <a:p>
                      <a:pPr>
                        <a:lnSpc>
                          <a:spcPct val="114000"/>
                        </a:lnSpc>
                      </a:pPr>
                      <a:r>
                        <a:rPr sz="1250" b="0" i="0">
                          <a:solidFill>
                            <a:srgbClr val="A99AA4"/>
                          </a:solidFill>
                          <a:latin typeface="Trebuchet MS"/>
                        </a:rPr>
                        <a:t>Le coût caché du travail après-vente</a:t>
                      </a:r>
                    </a:p>
                  </a:txBody>
                  <a:tcPr marL="128016" marR="128016" marT="64008" marB="64008" anchor="ctr">
                    <a:solidFill>
                      <a:srgbClr val="1A1220"/>
                    </a:solidFill>
                  </a:tcPr>
                </a:tc>
              </a:tr>
              <a:tr h="566928">
                <a:tc>
                  <a:txBody>
                    <a:bodyPr wrap="square"/>
                    <a:lstStyle/>
                    <a:p>
                      <a:pPr>
                        <a:lnSpc>
                          <a:spcPct val="114000"/>
                        </a:lnSpc>
                      </a:pPr>
                      <a:r>
                        <a:rPr sz="1250" b="1" i="0">
                          <a:solidFill>
                            <a:srgbClr val="F3E9EE"/>
                          </a:solidFill>
                          <a:latin typeface="Trebuchet MS"/>
                        </a:rPr>
                        <a:t>Acheteurs qui renoncent faute de paiement sûr</a:t>
                      </a:r>
                    </a:p>
                  </a:txBody>
                  <a:tcPr marL="128016" marR="128016" marT="64008" marB="64008" anchor="ctr">
                    <a:solidFill>
                      <a:srgbClr val="261B2E"/>
                    </a:solidFill>
                  </a:tcPr>
                </a:tc>
                <a:tc>
                  <a:txBody>
                    <a:bodyPr wrap="square"/>
                    <a:lstStyle/>
                    <a:p>
                      <a:pPr>
                        <a:lnSpc>
                          <a:spcPct val="114000"/>
                        </a:lnSpc>
                      </a:pPr>
                      <a:r>
                        <a:rPr sz="1250" b="0" i="0">
                          <a:solidFill>
                            <a:srgbClr val="A99AA4"/>
                          </a:solidFill>
                          <a:latin typeface="Trebuchet MS"/>
                        </a:rPr>
                        <a:t>La demande bloquée par la seule question de la confiance</a:t>
                      </a:r>
                    </a:p>
                  </a:txBody>
                  <a:tcPr marL="128016" marR="128016" marT="64008" marB="64008" anchor="ctr">
                    <a:solidFill>
                      <a:srgbClr val="261B2E"/>
                    </a:solidFill>
                  </a:tcPr>
                </a:tc>
              </a:tr>
              <a:tr h="566928">
                <a:tc>
                  <a:txBody>
                    <a:bodyPr wrap="square"/>
                    <a:lstStyle/>
                    <a:p>
                      <a:pPr>
                        <a:lnSpc>
                          <a:spcPct val="114000"/>
                        </a:lnSpc>
                      </a:pPr>
                      <a:r>
                        <a:rPr sz="1250" b="1" i="0">
                          <a:solidFill>
                            <a:srgbClr val="F3E9EE"/>
                          </a:solidFill>
                          <a:latin typeface="Trebuchet MS"/>
                        </a:rPr>
                        <a:t>Stock immobilisé par des réservations non honorées</a:t>
                      </a:r>
                    </a:p>
                  </a:txBody>
                  <a:tcPr marL="128016" marR="128016" marT="64008" marB="64008" anchor="ctr">
                    <a:solidFill>
                      <a:srgbClr val="1A1220"/>
                    </a:solidFill>
                  </a:tcPr>
                </a:tc>
                <a:tc>
                  <a:txBody>
                    <a:bodyPr wrap="square"/>
                    <a:lstStyle/>
                    <a:p>
                      <a:pPr>
                        <a:lnSpc>
                          <a:spcPct val="114000"/>
                        </a:lnSpc>
                      </a:pPr>
                      <a:r>
                        <a:rPr sz="1250" b="0" i="0">
                          <a:solidFill>
                            <a:srgbClr val="A99AA4"/>
                          </a:solidFill>
                          <a:latin typeface="Trebuchet MS"/>
                        </a:rPr>
                        <a:t>Le capital gelé par l'absence d'engagement</a:t>
                      </a:r>
                    </a:p>
                  </a:txBody>
                  <a:tcPr marL="128016" marR="128016" marT="64008" marB="64008" anchor="ctr">
                    <a:solidFill>
                      <a:srgbClr val="1A1220"/>
                    </a:solidFill>
                  </a:tcPr>
                </a:tc>
              </a:tr>
            </a:tbl>
          </a:graphicData>
        </a:graphic>
      </p:graphicFrame>
      <p:sp>
        <p:nvSpPr>
          <p:cNvPr id="11" name="Rectangle 10"/>
          <p:cNvSpPr/>
          <p:nvPr/>
        </p:nvSpPr>
        <p:spPr>
          <a:xfrm>
            <a:off x="777240" y="3264408"/>
            <a:ext cx="10637215" cy="12700"/>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2" name="TextBox 11"/>
          <p:cNvSpPr txBox="1"/>
          <p:nvPr/>
        </p:nvSpPr>
        <p:spPr>
          <a:xfrm>
            <a:off x="777240" y="5806440"/>
            <a:ext cx="10637215" cy="365760"/>
          </a:xfrm>
          <a:prstGeom prst="rect">
            <a:avLst/>
          </a:prstGeom>
          <a:noFill/>
        </p:spPr>
        <p:txBody>
          <a:bodyPr wrap="square" anchor="t" lIns="0" rIns="0" tIns="0" bIns="0"/>
          <a:lstStyle/>
          <a:p>
            <a:r>
              <a:rPr sz="1200" b="0" i="1">
                <a:solidFill>
                  <a:srgbClr val="E8B04B"/>
                </a:solidFill>
                <a:latin typeface="Trebuchet MS"/>
              </a:rPr>
              <a:t>Hypothèses à valider — ces quatre mesures sont l'objectif du pilote, pas un résultat.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3901342"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08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Rounded Rectangle 7"/>
          <p:cNvSpPr/>
          <p:nvPr/>
        </p:nvSpPr>
        <p:spPr>
          <a:xfrm>
            <a:off x="777240" y="960120"/>
            <a:ext cx="2880360" cy="457200"/>
          </a:xfrm>
          <a:prstGeom prst="roundRect">
            <a:avLst>
              <a:gd name="adj" fmla="val 45000"/>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l"/>
            <a:r>
              <a:rPr sz="1300" b="0" i="0" strike="sngStrike">
                <a:solidFill>
                  <a:srgbClr val="6B5C67"/>
                </a:solidFill>
                <a:latin typeface="Trebuchet MS"/>
              </a:rPr>
              <a:t>je prends 😍</a:t>
            </a:r>
          </a:p>
        </p:txBody>
      </p:sp>
      <p:sp>
        <p:nvSpPr>
          <p:cNvPr id="9" name="Rounded Rectangle 8"/>
          <p:cNvSpPr/>
          <p:nvPr/>
        </p:nvSpPr>
        <p:spPr>
          <a:xfrm>
            <a:off x="777240" y="1527048"/>
            <a:ext cx="2880360" cy="457200"/>
          </a:xfrm>
          <a:prstGeom prst="roundRect">
            <a:avLst>
              <a:gd name="adj" fmla="val 45000"/>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l"/>
            <a:r>
              <a:rPr sz="1300" b="0" i="0" strike="sngStrike">
                <a:solidFill>
                  <a:srgbClr val="6B5C67"/>
                </a:solidFill>
                <a:latin typeface="Trebuchet MS"/>
              </a:rPr>
              <a:t>je prend 2</a:t>
            </a:r>
          </a:p>
        </p:txBody>
      </p:sp>
      <p:sp>
        <p:nvSpPr>
          <p:cNvPr id="10" name="Rounded Rectangle 9"/>
          <p:cNvSpPr/>
          <p:nvPr/>
        </p:nvSpPr>
        <p:spPr>
          <a:xfrm>
            <a:off x="777240" y="2093976"/>
            <a:ext cx="2880360" cy="457200"/>
          </a:xfrm>
          <a:prstGeom prst="roundRect">
            <a:avLst>
              <a:gd name="adj" fmla="val 45000"/>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l"/>
            <a:r>
              <a:rPr sz="1300" b="0" i="0" strike="sngStrike">
                <a:solidFill>
                  <a:srgbClr val="6B5C67"/>
                </a:solidFill>
                <a:latin typeface="Trebuchet MS"/>
              </a:rPr>
              <a:t>c'est combien ?</a:t>
            </a:r>
          </a:p>
        </p:txBody>
      </p:sp>
      <p:sp>
        <p:nvSpPr>
          <p:cNvPr id="11" name="Rounded Rectangle 10"/>
          <p:cNvSpPr/>
          <p:nvPr/>
        </p:nvSpPr>
        <p:spPr>
          <a:xfrm>
            <a:off x="777240" y="2660904"/>
            <a:ext cx="2880360" cy="457200"/>
          </a:xfrm>
          <a:prstGeom prst="roundRect">
            <a:avLst>
              <a:gd name="adj" fmla="val 45000"/>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l"/>
            <a:r>
              <a:rPr sz="1300" b="0" i="0" strike="sngStrike">
                <a:solidFill>
                  <a:srgbClr val="6B5C67"/>
                </a:solidFill>
                <a:latin typeface="Trebuchet MS"/>
              </a:rPr>
              <a:t>la taille M dispo ?</a:t>
            </a:r>
          </a:p>
        </p:txBody>
      </p:sp>
      <p:sp>
        <p:nvSpPr>
          <p:cNvPr id="12" name="TextBox 11"/>
          <p:cNvSpPr txBox="1"/>
          <p:nvPr/>
        </p:nvSpPr>
        <p:spPr>
          <a:xfrm>
            <a:off x="3931920" y="1828800"/>
            <a:ext cx="822960" cy="640080"/>
          </a:xfrm>
          <a:prstGeom prst="rect">
            <a:avLst/>
          </a:prstGeom>
          <a:noFill/>
        </p:spPr>
        <p:txBody>
          <a:bodyPr wrap="square" anchor="t" lIns="0" rIns="0" tIns="0" bIns="0"/>
          <a:lstStyle/>
          <a:p>
            <a:pPr algn="ctr"/>
            <a:r>
              <a:rPr sz="3400" b="1" i="0">
                <a:solidFill>
                  <a:srgbClr val="E4306E"/>
                </a:solidFill>
                <a:latin typeface="Trebuchet MS"/>
              </a:rPr>
              <a:t>→</a:t>
            </a:r>
          </a:p>
        </p:txBody>
      </p:sp>
      <p:sp>
        <p:nvSpPr>
          <p:cNvPr id="13" name="Rounded Rectangle 12"/>
          <p:cNvSpPr/>
          <p:nvPr/>
        </p:nvSpPr>
        <p:spPr>
          <a:xfrm>
            <a:off x="4846320" y="1417320"/>
            <a:ext cx="3200400" cy="1463040"/>
          </a:xfrm>
          <a:prstGeom prst="roundRect">
            <a:avLst>
              <a:gd name="adj" fmla="val 22000"/>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r>
              <a:rPr sz="2600" b="1" i="0" spc="220">
                <a:solidFill>
                  <a:srgbClr val="FFFFFF"/>
                </a:solidFill>
                <a:latin typeface="Trebuchet MS"/>
              </a:rPr>
              <a:t>JE PRENDS</a:t>
            </a:r>
          </a:p>
        </p:txBody>
      </p:sp>
      <p:sp>
        <p:nvSpPr>
          <p:cNvPr id="14" name="TextBox 13"/>
          <p:cNvSpPr txBox="1"/>
          <p:nvPr/>
        </p:nvSpPr>
        <p:spPr>
          <a:xfrm>
            <a:off x="777240" y="3703320"/>
            <a:ext cx="10637215" cy="1371600"/>
          </a:xfrm>
          <a:prstGeom prst="rect">
            <a:avLst/>
          </a:prstGeom>
          <a:noFill/>
        </p:spPr>
        <p:txBody>
          <a:bodyPr wrap="square" anchor="t" lIns="0" rIns="0" tIns="0" bIns="0"/>
          <a:lstStyle/>
          <a:p>
            <a:pPr>
              <a:lnSpc>
                <a:spcPct val="102000"/>
              </a:lnSpc>
            </a:pPr>
            <a:r>
              <a:rPr sz="4600" b="1" i="0" spc="-60">
                <a:solidFill>
                  <a:srgbClr val="F3E9EE"/>
                </a:solidFill>
                <a:latin typeface="Georgia"/>
              </a:rPr>
              <a:t>On remplace le commentaire
par un bouton.</a:t>
            </a:r>
          </a:p>
        </p:txBody>
      </p:sp>
      <p:sp>
        <p:nvSpPr>
          <p:cNvPr id="15" name="TextBox 14"/>
          <p:cNvSpPr txBox="1"/>
          <p:nvPr/>
        </p:nvSpPr>
        <p:spPr>
          <a:xfrm>
            <a:off x="777240" y="5349240"/>
            <a:ext cx="10637215" cy="457200"/>
          </a:xfrm>
          <a:prstGeom prst="rect">
            <a:avLst/>
          </a:prstGeom>
          <a:noFill/>
        </p:spPr>
        <p:txBody>
          <a:bodyPr wrap="square" anchor="t" lIns="0" rIns="0" tIns="0" bIns="0"/>
          <a:lstStyle/>
          <a:p>
            <a:r>
              <a:rPr sz="1700" b="1" i="0">
                <a:solidFill>
                  <a:srgbClr val="E4306E"/>
                </a:solidFill>
                <a:latin typeface="Trebuchet MS"/>
              </a:rPr>
              <a:t>Une action.   </a:t>
            </a:r>
            <a:r>
              <a:rPr sz="1700" b="0" i="0">
                <a:solidFill>
                  <a:srgbClr val="F3E9EE"/>
                </a:solidFill>
                <a:latin typeface="Trebuchet MS"/>
              </a:rPr>
              <a:t>Une quantité.   </a:t>
            </a:r>
            <a:r>
              <a:rPr sz="1700" b="0" i="0">
                <a:solidFill>
                  <a:srgbClr val="F3E9EE"/>
                </a:solidFill>
                <a:latin typeface="Trebuchet MS"/>
              </a:rPr>
              <a:t>Un paiement.   </a:t>
            </a:r>
            <a:r>
              <a:rPr sz="1700" b="0" i="0">
                <a:solidFill>
                  <a:srgbClr val="F3E9EE"/>
                </a:solidFill>
                <a:latin typeface="Trebuchet MS"/>
              </a:rPr>
              <a:t>Une facture.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4389010"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09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325880"/>
          </a:xfrm>
          <a:prstGeom prst="rect">
            <a:avLst/>
          </a:prstGeom>
          <a:noFill/>
        </p:spPr>
        <p:txBody>
          <a:bodyPr wrap="square" anchor="t" lIns="0" rIns="0" tIns="0" bIns="0"/>
          <a:lstStyle/>
          <a:p>
            <a:pPr>
              <a:lnSpc>
                <a:spcPct val="102000"/>
              </a:lnSpc>
            </a:pPr>
            <a:r>
              <a:rPr sz="3600" b="1" i="0" spc="-60">
                <a:solidFill>
                  <a:srgbClr val="F3E9EE"/>
                </a:solidFill>
                <a:latin typeface="Georgia"/>
              </a:rPr>
              <a:t>La confiance n'est pas une promesse.
C'est un mécanisme.</a:t>
            </a:r>
          </a:p>
        </p:txBody>
      </p:sp>
      <p:sp>
        <p:nvSpPr>
          <p:cNvPr id="9" name="TextBox 8"/>
          <p:cNvSpPr txBox="1"/>
          <p:nvPr/>
        </p:nvSpPr>
        <p:spPr>
          <a:xfrm>
            <a:off x="777240" y="2331720"/>
            <a:ext cx="10637215" cy="3886200"/>
          </a:xfrm>
          <a:prstGeom prst="rect">
            <a:avLst/>
          </a:prstGeom>
          <a:noFill/>
        </p:spPr>
        <p:txBody>
          <a:bodyPr wrap="square" anchor="t" lIns="0" rIns="0" tIns="0" bIns="0"/>
          <a:lstStyle/>
          <a:p>
            <a:pPr>
              <a:lnSpc>
                <a:spcPct val="122000"/>
              </a:lnSpc>
              <a:spcAft>
                <a:spcPts val="1500"/>
              </a:spcAft>
            </a:pPr>
            <a:r>
              <a:rPr sz="1400" b="1" i="0">
                <a:solidFill>
                  <a:srgbClr val="2FBF9B"/>
                </a:solidFill>
                <a:latin typeface="Consolas"/>
              </a:rPr>
              <a:t>— </a:t>
            </a:r>
            <a:r>
              <a:rPr sz="1400" b="1" i="0">
                <a:solidFill>
                  <a:srgbClr val="2FBF9B"/>
                </a:solidFill>
                <a:latin typeface="Trebuchet MS"/>
              </a:rPr>
              <a:t>Vendeur vérifié</a:t>
            </a:r>
            <a:r>
              <a:rPr sz="1400" b="0" i="0">
                <a:solidFill>
                  <a:srgbClr val="F3E9EE"/>
                </a:solidFill>
                <a:latin typeface="Trebuchet MS"/>
              </a:rPr>
              <a:t> — identité et numéro mobile money contrôlés avant la première vente.</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L'argent ne circule plus de main à main</a:t>
            </a:r>
            <a:r>
              <a:rPr sz="1400" b="0" i="0">
                <a:solidFill>
                  <a:srgbClr val="F3E9EE"/>
                </a:solidFill>
                <a:latin typeface="Trebuchet MS"/>
              </a:rPr>
              <a:t> — il transite par la plateforme, jamais vers un numéro personnel inconnu.</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Fonds libérés à la confirmation</a:t>
            </a:r>
            <a:r>
              <a:rPr sz="1400" b="0" i="0">
                <a:solidFill>
                  <a:srgbClr val="F3E9EE"/>
                </a:solidFill>
                <a:latin typeface="Trebuchet MS"/>
              </a:rPr>
              <a:t> — le vendeur est payé quand l'acheteur confirme la réception. Modalités à caler avec le cadre réglementaire et le partenaire de paiement.</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Facture horodatée</a:t>
            </a:r>
            <a:r>
              <a:rPr sz="1400" b="0" i="0">
                <a:solidFill>
                  <a:srgbClr val="F3E9EE"/>
                </a:solidFill>
                <a:latin typeface="Trebuchet MS"/>
              </a:rPr>
              <a:t> — émise automatiquement, conservée des deux côtés.</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Avis vérifiés</a:t>
            </a:r>
            <a:r>
              <a:rPr sz="1400" b="0" i="0">
                <a:solidFill>
                  <a:srgbClr val="F3E9EE"/>
                </a:solidFill>
                <a:latin typeface="Trebuchet MS"/>
              </a:rPr>
              <a:t> — seul un acheteur qui a réellement payé peut noter.</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Litiges arbitrés</a:t>
            </a:r>
            <a:r>
              <a:rPr sz="1400" b="0" i="0">
                <a:solidFill>
                  <a:srgbClr val="F3E9EE"/>
                </a:solidFill>
                <a:latin typeface="Trebuchet MS"/>
              </a:rPr>
              <a:t> — signalés à JP, jamais en face à face. Décision motivée et tracée.</a:t>
            </a:r>
          </a:p>
          <a:p>
            <a:pPr>
              <a:lnSpc>
                <a:spcPct val="122000"/>
              </a:lnSpc>
              <a:spcAft>
                <a:spcPts val="1500"/>
              </a:spcAft>
            </a:pPr>
            <a:r>
              <a:rPr sz="1400" b="1" i="0">
                <a:solidFill>
                  <a:srgbClr val="2FBF9B"/>
                </a:solidFill>
                <a:latin typeface="Consolas"/>
              </a:rPr>
              <a:t>— </a:t>
            </a:r>
            <a:r>
              <a:rPr sz="1400" b="1" i="0">
                <a:solidFill>
                  <a:srgbClr val="2FBF9B"/>
                </a:solidFill>
                <a:latin typeface="Trebuchet MS"/>
              </a:rPr>
              <a:t>Score de confiance public</a:t>
            </a:r>
            <a:r>
              <a:rPr sz="1400" b="0" i="0">
                <a:solidFill>
                  <a:srgbClr val="F3E9EE"/>
                </a:solidFill>
                <a:latin typeface="Trebuchet MS"/>
              </a:rPr>
              <a:t> — construit sur les ventes honorées, les délais, les litiges.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4876678"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10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3800" b="1" i="0" spc="-60">
                <a:solidFill>
                  <a:srgbClr val="F3E9EE"/>
                </a:solidFill>
                <a:latin typeface="Georgia"/>
              </a:rPr>
              <a:t>Du direct au paiement, sans quitter l'écran.</a:t>
            </a:r>
          </a:p>
        </p:txBody>
      </p:sp>
      <p:sp>
        <p:nvSpPr>
          <p:cNvPr id="9" name="TextBox 8"/>
          <p:cNvSpPr txBox="1"/>
          <p:nvPr/>
        </p:nvSpPr>
        <p:spPr>
          <a:xfrm>
            <a:off x="777240" y="2011680"/>
            <a:ext cx="548640" cy="457200"/>
          </a:xfrm>
          <a:prstGeom prst="rect">
            <a:avLst/>
          </a:prstGeom>
          <a:noFill/>
        </p:spPr>
        <p:txBody>
          <a:bodyPr wrap="square" anchor="t" lIns="0" rIns="0" tIns="0" bIns="0"/>
          <a:lstStyle/>
          <a:p>
            <a:r>
              <a:rPr sz="2000" b="1" i="0" spc="-50">
                <a:solidFill>
                  <a:srgbClr val="E4306E"/>
                </a:solidFill>
                <a:latin typeface="Consolas"/>
              </a:rPr>
              <a:t>01</a:t>
            </a:r>
          </a:p>
        </p:txBody>
      </p:sp>
      <p:sp>
        <p:nvSpPr>
          <p:cNvPr id="10" name="TextBox 9"/>
          <p:cNvSpPr txBox="1"/>
          <p:nvPr/>
        </p:nvSpPr>
        <p:spPr>
          <a:xfrm>
            <a:off x="1435608" y="1993392"/>
            <a:ext cx="9978847" cy="658368"/>
          </a:xfrm>
          <a:prstGeom prst="rect">
            <a:avLst/>
          </a:prstGeom>
          <a:noFill/>
        </p:spPr>
        <p:txBody>
          <a:bodyPr wrap="square" anchor="t" lIns="0" rIns="0" tIns="0" bIns="0"/>
          <a:lstStyle/>
          <a:p>
            <a:pPr>
              <a:lnSpc>
                <a:spcPct val="120000"/>
              </a:lnSpc>
            </a:pPr>
            <a:r>
              <a:rPr sz="1400" b="1" i="0">
                <a:solidFill>
                  <a:srgbClr val="F3E9EE"/>
                </a:solidFill>
                <a:latin typeface="Trebuchet MS"/>
              </a:rPr>
              <a:t>Le vendeur passe en direct.  </a:t>
            </a:r>
            <a:r>
              <a:rPr sz="1250" b="0" i="0">
                <a:solidFill>
                  <a:srgbClr val="A99AA4"/>
                </a:solidFill>
                <a:latin typeface="Trebuchet MS"/>
              </a:rPr>
              <a:t>Il présente l'article. Le prix et le stock restant s'affichent à l'écran, en direct.</a:t>
            </a:r>
          </a:p>
        </p:txBody>
      </p:sp>
      <p:sp>
        <p:nvSpPr>
          <p:cNvPr id="11" name="Rectangle 10"/>
          <p:cNvSpPr/>
          <p:nvPr/>
        </p:nvSpPr>
        <p:spPr>
          <a:xfrm>
            <a:off x="777240" y="2633472"/>
            <a:ext cx="10637215" cy="9525"/>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2" name="TextBox 11"/>
          <p:cNvSpPr txBox="1"/>
          <p:nvPr/>
        </p:nvSpPr>
        <p:spPr>
          <a:xfrm>
            <a:off x="777240" y="2724912"/>
            <a:ext cx="548640" cy="457200"/>
          </a:xfrm>
          <a:prstGeom prst="rect">
            <a:avLst/>
          </a:prstGeom>
          <a:noFill/>
        </p:spPr>
        <p:txBody>
          <a:bodyPr wrap="square" anchor="t" lIns="0" rIns="0" tIns="0" bIns="0"/>
          <a:lstStyle/>
          <a:p>
            <a:r>
              <a:rPr sz="2000" b="1" i="0" spc="-50">
                <a:solidFill>
                  <a:srgbClr val="E4306E"/>
                </a:solidFill>
                <a:latin typeface="Consolas"/>
              </a:rPr>
              <a:t>02</a:t>
            </a:r>
          </a:p>
        </p:txBody>
      </p:sp>
      <p:sp>
        <p:nvSpPr>
          <p:cNvPr id="13" name="TextBox 12"/>
          <p:cNvSpPr txBox="1"/>
          <p:nvPr/>
        </p:nvSpPr>
        <p:spPr>
          <a:xfrm>
            <a:off x="1435608" y="2706624"/>
            <a:ext cx="9978847" cy="658368"/>
          </a:xfrm>
          <a:prstGeom prst="rect">
            <a:avLst/>
          </a:prstGeom>
          <a:noFill/>
        </p:spPr>
        <p:txBody>
          <a:bodyPr wrap="square" anchor="t" lIns="0" rIns="0" tIns="0" bIns="0"/>
          <a:lstStyle/>
          <a:p>
            <a:pPr>
              <a:lnSpc>
                <a:spcPct val="120000"/>
              </a:lnSpc>
            </a:pPr>
            <a:r>
              <a:rPr sz="1400" b="1" i="0">
                <a:solidFill>
                  <a:srgbClr val="F3E9EE"/>
                </a:solidFill>
                <a:latin typeface="Trebuchet MS"/>
              </a:rPr>
              <a:t>L'acheteur appuie sur « Je prends ».  </a:t>
            </a:r>
            <a:r>
              <a:rPr sz="1250" b="0" i="0">
                <a:solidFill>
                  <a:srgbClr val="A99AA4"/>
                </a:solidFill>
                <a:latin typeface="Trebuchet MS"/>
              </a:rPr>
              <a:t>Sans écrire un mot, sans quitter le direct.</a:t>
            </a:r>
          </a:p>
        </p:txBody>
      </p:sp>
      <p:sp>
        <p:nvSpPr>
          <p:cNvPr id="14" name="Rectangle 13"/>
          <p:cNvSpPr/>
          <p:nvPr/>
        </p:nvSpPr>
        <p:spPr>
          <a:xfrm>
            <a:off x="777240" y="3346704"/>
            <a:ext cx="10637215" cy="9525"/>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5" name="TextBox 14"/>
          <p:cNvSpPr txBox="1"/>
          <p:nvPr/>
        </p:nvSpPr>
        <p:spPr>
          <a:xfrm>
            <a:off x="777240" y="3438144"/>
            <a:ext cx="548640" cy="457200"/>
          </a:xfrm>
          <a:prstGeom prst="rect">
            <a:avLst/>
          </a:prstGeom>
          <a:noFill/>
        </p:spPr>
        <p:txBody>
          <a:bodyPr wrap="square" anchor="t" lIns="0" rIns="0" tIns="0" bIns="0"/>
          <a:lstStyle/>
          <a:p>
            <a:r>
              <a:rPr sz="2000" b="1" i="0" spc="-50">
                <a:solidFill>
                  <a:srgbClr val="E4306E"/>
                </a:solidFill>
                <a:latin typeface="Consolas"/>
              </a:rPr>
              <a:t>03</a:t>
            </a:r>
          </a:p>
        </p:txBody>
      </p:sp>
      <p:sp>
        <p:nvSpPr>
          <p:cNvPr id="16" name="TextBox 15"/>
          <p:cNvSpPr txBox="1"/>
          <p:nvPr/>
        </p:nvSpPr>
        <p:spPr>
          <a:xfrm>
            <a:off x="1435608" y="3419856"/>
            <a:ext cx="9978847" cy="658368"/>
          </a:xfrm>
          <a:prstGeom prst="rect">
            <a:avLst/>
          </a:prstGeom>
          <a:noFill/>
        </p:spPr>
        <p:txBody>
          <a:bodyPr wrap="square" anchor="t" lIns="0" rIns="0" tIns="0" bIns="0"/>
          <a:lstStyle/>
          <a:p>
            <a:pPr>
              <a:lnSpc>
                <a:spcPct val="120000"/>
              </a:lnSpc>
            </a:pPr>
            <a:r>
              <a:rPr sz="1400" b="1" i="0">
                <a:solidFill>
                  <a:srgbClr val="F3E9EE"/>
                </a:solidFill>
                <a:latin typeface="Trebuchet MS"/>
              </a:rPr>
              <a:t>Il choisit la quantité, la taille et la livraison.  </a:t>
            </a:r>
            <a:r>
              <a:rPr sz="1250" b="0" i="0">
                <a:solidFill>
                  <a:srgbClr val="A99AA4"/>
                </a:solidFill>
                <a:latin typeface="Trebuchet MS"/>
              </a:rPr>
              <a:t>L'article lui est réservé quelques minutes. À domicile ou en point de retrait, au choix.</a:t>
            </a:r>
          </a:p>
        </p:txBody>
      </p:sp>
      <p:sp>
        <p:nvSpPr>
          <p:cNvPr id="17" name="Rectangle 16"/>
          <p:cNvSpPr/>
          <p:nvPr/>
        </p:nvSpPr>
        <p:spPr>
          <a:xfrm>
            <a:off x="777240" y="4059936"/>
            <a:ext cx="10637215" cy="9525"/>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8" name="TextBox 17"/>
          <p:cNvSpPr txBox="1"/>
          <p:nvPr/>
        </p:nvSpPr>
        <p:spPr>
          <a:xfrm>
            <a:off x="777240" y="4151376"/>
            <a:ext cx="548640" cy="457200"/>
          </a:xfrm>
          <a:prstGeom prst="rect">
            <a:avLst/>
          </a:prstGeom>
          <a:noFill/>
        </p:spPr>
        <p:txBody>
          <a:bodyPr wrap="square" anchor="t" lIns="0" rIns="0" tIns="0" bIns="0"/>
          <a:lstStyle/>
          <a:p>
            <a:r>
              <a:rPr sz="2000" b="1" i="0" spc="-50">
                <a:solidFill>
                  <a:srgbClr val="E4306E"/>
                </a:solidFill>
                <a:latin typeface="Consolas"/>
              </a:rPr>
              <a:t>04</a:t>
            </a:r>
          </a:p>
        </p:txBody>
      </p:sp>
      <p:sp>
        <p:nvSpPr>
          <p:cNvPr id="19" name="TextBox 18"/>
          <p:cNvSpPr txBox="1"/>
          <p:nvPr/>
        </p:nvSpPr>
        <p:spPr>
          <a:xfrm>
            <a:off x="1435608" y="4133088"/>
            <a:ext cx="9978847" cy="658368"/>
          </a:xfrm>
          <a:prstGeom prst="rect">
            <a:avLst/>
          </a:prstGeom>
          <a:noFill/>
        </p:spPr>
        <p:txBody>
          <a:bodyPr wrap="square" anchor="t" lIns="0" rIns="0" tIns="0" bIns="0"/>
          <a:lstStyle/>
          <a:p>
            <a:pPr>
              <a:lnSpc>
                <a:spcPct val="120000"/>
              </a:lnSpc>
            </a:pPr>
            <a:r>
              <a:rPr sz="1400" b="1" i="0">
                <a:solidFill>
                  <a:srgbClr val="F3E9EE"/>
                </a:solidFill>
                <a:latin typeface="Trebuchet MS"/>
              </a:rPr>
              <a:t>Il paie par mobile money.  </a:t>
            </a:r>
            <a:r>
              <a:rPr sz="1250" b="0" i="0">
                <a:solidFill>
                  <a:srgbClr val="A99AA4"/>
                </a:solidFill>
                <a:latin typeface="Trebuchet MS"/>
              </a:rPr>
              <a:t>MVola, Orange Money, Airtel Money — ou carte bancaire. Rails de paiement visés, à contractualiser.</a:t>
            </a:r>
          </a:p>
        </p:txBody>
      </p:sp>
      <p:sp>
        <p:nvSpPr>
          <p:cNvPr id="20" name="Rectangle 19"/>
          <p:cNvSpPr/>
          <p:nvPr/>
        </p:nvSpPr>
        <p:spPr>
          <a:xfrm>
            <a:off x="777240" y="4773168"/>
            <a:ext cx="10637215" cy="9525"/>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21" name="TextBox 20"/>
          <p:cNvSpPr txBox="1"/>
          <p:nvPr/>
        </p:nvSpPr>
        <p:spPr>
          <a:xfrm>
            <a:off x="777240" y="4864608"/>
            <a:ext cx="548640" cy="457200"/>
          </a:xfrm>
          <a:prstGeom prst="rect">
            <a:avLst/>
          </a:prstGeom>
          <a:noFill/>
        </p:spPr>
        <p:txBody>
          <a:bodyPr wrap="square" anchor="t" lIns="0" rIns="0" tIns="0" bIns="0"/>
          <a:lstStyle/>
          <a:p>
            <a:r>
              <a:rPr sz="2000" b="1" i="0" spc="-50">
                <a:solidFill>
                  <a:srgbClr val="E4306E"/>
                </a:solidFill>
                <a:latin typeface="Consolas"/>
              </a:rPr>
              <a:t>05</a:t>
            </a:r>
          </a:p>
        </p:txBody>
      </p:sp>
      <p:sp>
        <p:nvSpPr>
          <p:cNvPr id="22" name="TextBox 21"/>
          <p:cNvSpPr txBox="1"/>
          <p:nvPr/>
        </p:nvSpPr>
        <p:spPr>
          <a:xfrm>
            <a:off x="1435608" y="4846320"/>
            <a:ext cx="9978847" cy="658368"/>
          </a:xfrm>
          <a:prstGeom prst="rect">
            <a:avLst/>
          </a:prstGeom>
          <a:noFill/>
        </p:spPr>
        <p:txBody>
          <a:bodyPr wrap="square" anchor="t" lIns="0" rIns="0" tIns="0" bIns="0"/>
          <a:lstStyle/>
          <a:p>
            <a:pPr>
              <a:lnSpc>
                <a:spcPct val="120000"/>
              </a:lnSpc>
            </a:pPr>
            <a:r>
              <a:rPr sz="1400" b="1" i="0">
                <a:solidFill>
                  <a:srgbClr val="F3E9EE"/>
                </a:solidFill>
                <a:latin typeface="Trebuchet MS"/>
              </a:rPr>
              <a:t>La facture part automatiquement.  </a:t>
            </a:r>
            <a:r>
              <a:rPr sz="1250" b="0" i="0">
                <a:solidFill>
                  <a:srgbClr val="A99AA4"/>
                </a:solidFill>
                <a:latin typeface="Trebuchet MS"/>
              </a:rPr>
              <a:t>Commande créée, vendeur notifié, suivi de livraison ouvert des deux côtés.</a:t>
            </a:r>
          </a:p>
        </p:txBody>
      </p:sp>
      <p:sp>
        <p:nvSpPr>
          <p:cNvPr id="23" name="TextBox 22"/>
          <p:cNvSpPr txBox="1"/>
          <p:nvPr/>
        </p:nvSpPr>
        <p:spPr>
          <a:xfrm>
            <a:off x="777240" y="5742432"/>
            <a:ext cx="10637215" cy="365760"/>
          </a:xfrm>
          <a:prstGeom prst="rect">
            <a:avLst/>
          </a:prstGeom>
          <a:noFill/>
        </p:spPr>
        <p:txBody>
          <a:bodyPr wrap="square" anchor="t" lIns="0" rIns="0" tIns="0" bIns="0"/>
          <a:lstStyle/>
          <a:p>
            <a:r>
              <a:rPr sz="1200" b="0" i="1">
                <a:solidFill>
                  <a:srgbClr val="E8B04B"/>
                </a:solidFill>
                <a:latin typeface="Trebuchet MS"/>
              </a:rPr>
              <a:t>Objectif produit : moins de 30 secondes entre le clic et le paiement confirmé.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5364345"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11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713232"/>
            <a:ext cx="10637215" cy="822960"/>
          </a:xfrm>
          <a:prstGeom prst="rect">
            <a:avLst/>
          </a:prstGeom>
          <a:noFill/>
        </p:spPr>
        <p:txBody>
          <a:bodyPr wrap="square" anchor="t" lIns="0" rIns="0" tIns="0" bIns="0"/>
          <a:lstStyle/>
          <a:p>
            <a:pPr>
              <a:lnSpc>
                <a:spcPct val="102000"/>
              </a:lnSpc>
            </a:pPr>
            <a:r>
              <a:rPr sz="4000" b="1" i="0" spc="-60">
                <a:solidFill>
                  <a:srgbClr val="F3E9EE"/>
                </a:solidFill>
                <a:latin typeface="Georgia"/>
              </a:rPr>
              <a:t>Le même direct, sans le désordre.</a:t>
            </a:r>
          </a:p>
        </p:txBody>
      </p:sp>
      <p:graphicFrame>
        <p:nvGraphicFramePr>
          <p:cNvPr id="9" name="Table 8"/>
          <p:cNvGraphicFramePr>
            <a:graphicFrameLocks noGrp="1"/>
          </p:cNvGraphicFramePr>
          <p:nvPr/>
        </p:nvGraphicFramePr>
        <p:xfrm>
          <a:off x="777240" y="1664208"/>
          <a:ext cx="10637215" cy="4485132"/>
        </p:xfrm>
        <a:graphic>
          <a:graphicData uri="http://schemas.openxmlformats.org/drawingml/2006/table">
            <a:tbl>
              <a:tblPr firstRow="1" bandRow="0">
                <a:tableStyleId>{2D5ABB26-0587-4C30-8999-92F81FD0307C}</a:tableStyleId>
              </a:tblPr>
              <a:tblGrid>
                <a:gridCol w="2788920"/>
                <a:gridCol w="3931920"/>
                <a:gridCol w="3916375"/>
              </a:tblGrid>
              <a:tr h="498348">
                <a:tc>
                  <a:txBody>
                    <a:bodyPr wrap="square"/>
                    <a:lstStyle/>
                    <a:p>
                      <a:pPr>
                        <a:lnSpc>
                          <a:spcPct val="114000"/>
                        </a:lnSpc>
                      </a:pPr>
                      <a:r>
                        <a:rPr sz="1000" b="1" i="0" spc="120">
                          <a:solidFill>
                            <a:srgbClr val="E4306E"/>
                          </a:solidFill>
                          <a:latin typeface="Consolas"/>
                        </a:rPr>
                        <a:t/>
                      </a:r>
                    </a:p>
                  </a:txBody>
                  <a:tcPr marL="128016" marR="128016" marT="64008" marB="64008" anchor="ctr">
                    <a:solidFill>
                      <a:srgbClr val="1A1220"/>
                    </a:solidFill>
                  </a:tcPr>
                </a:tc>
                <a:tc>
                  <a:txBody>
                    <a:bodyPr wrap="square"/>
                    <a:lstStyle/>
                    <a:p>
                      <a:pPr>
                        <a:lnSpc>
                          <a:spcPct val="114000"/>
                        </a:lnSpc>
                      </a:pPr>
                      <a:r>
                        <a:rPr sz="1000" b="1" i="0" spc="120">
                          <a:solidFill>
                            <a:srgbClr val="E4306E"/>
                          </a:solidFill>
                          <a:latin typeface="Consolas"/>
                        </a:rPr>
                        <a:t>AUJOURD'HUI, SUR UN RÉSEAU SOCIAL</a:t>
                      </a:r>
                    </a:p>
                  </a:txBody>
                  <a:tcPr marL="128016" marR="128016" marT="64008" marB="64008" anchor="ctr">
                    <a:solidFill>
                      <a:srgbClr val="1A1220"/>
                    </a:solidFill>
                  </a:tcPr>
                </a:tc>
                <a:tc>
                  <a:txBody>
                    <a:bodyPr wrap="square"/>
                    <a:lstStyle/>
                    <a:p>
                      <a:pPr>
                        <a:lnSpc>
                          <a:spcPct val="114000"/>
                        </a:lnSpc>
                      </a:pPr>
                      <a:r>
                        <a:rPr sz="1000" b="1" i="0" spc="120">
                          <a:solidFill>
                            <a:srgbClr val="E4306E"/>
                          </a:solidFill>
                          <a:latin typeface="Consolas"/>
                        </a:rPr>
                        <a:t>AVEC JP</a:t>
                      </a:r>
                    </a:p>
                  </a:txBody>
                  <a:tcPr marL="128016" marR="128016" marT="64008" marB="64008" anchor="ctr">
                    <a:solidFill>
                      <a:srgbClr val="1A1220"/>
                    </a:solidFill>
                  </a:tcPr>
                </a:tc>
              </a:tr>
              <a:tr h="498348">
                <a:tc>
                  <a:txBody>
                    <a:bodyPr wrap="square"/>
                    <a:lstStyle/>
                    <a:p>
                      <a:pPr>
                        <a:lnSpc>
                          <a:spcPct val="114000"/>
                        </a:lnSpc>
                      </a:pPr>
                      <a:r>
                        <a:rPr sz="1200" b="1" i="0">
                          <a:solidFill>
                            <a:srgbClr val="F3E9EE"/>
                          </a:solidFill>
                          <a:latin typeface="Trebuchet MS"/>
                        </a:rPr>
                        <a:t>Prendre la commande</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Un commentaire noyé dans le flux</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Un bouton, quantité et taille incluses</a:t>
                      </a:r>
                    </a:p>
                  </a:txBody>
                  <a:tcPr marL="128016" marR="128016" marT="64008" marB="64008" anchor="ctr">
                    <a:solidFill>
                      <a:srgbClr val="261B2E"/>
                    </a:solidFill>
                  </a:tcPr>
                </a:tc>
              </a:tr>
              <a:tr h="498348">
                <a:tc>
                  <a:txBody>
                    <a:bodyPr wrap="square"/>
                    <a:lstStyle/>
                    <a:p>
                      <a:pPr>
                        <a:lnSpc>
                          <a:spcPct val="114000"/>
                        </a:lnSpc>
                      </a:pPr>
                      <a:r>
                        <a:rPr sz="1200" b="1" i="0">
                          <a:solidFill>
                            <a:srgbClr val="F3E9EE"/>
                          </a:solidFill>
                          <a:latin typeface="Trebuchet MS"/>
                        </a:rPr>
                        <a:t>Retrouver l'acheteur</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Message privé, un par un</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Commande nominative et horodatée</a:t>
                      </a:r>
                    </a:p>
                  </a:txBody>
                  <a:tcPr marL="128016" marR="128016" marT="64008" marB="64008" anchor="ctr">
                    <a:solidFill>
                      <a:srgbClr val="1A1220"/>
                    </a:solidFill>
                  </a:tcPr>
                </a:tc>
              </a:tr>
              <a:tr h="498348">
                <a:tc>
                  <a:txBody>
                    <a:bodyPr wrap="square"/>
                    <a:lstStyle/>
                    <a:p>
                      <a:pPr>
                        <a:lnSpc>
                          <a:spcPct val="114000"/>
                        </a:lnSpc>
                      </a:pPr>
                      <a:r>
                        <a:rPr sz="1200" b="1" i="0">
                          <a:solidFill>
                            <a:srgbClr val="F3E9EE"/>
                          </a:solidFill>
                          <a:latin typeface="Trebuchet MS"/>
                        </a:rPr>
                        <a:t>Encaisser</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Numéro personnel, à la confiance</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Paiement encaissé dans la plateforme</a:t>
                      </a:r>
                    </a:p>
                  </a:txBody>
                  <a:tcPr marL="128016" marR="128016" marT="64008" marB="64008" anchor="ctr">
                    <a:solidFill>
                      <a:srgbClr val="261B2E"/>
                    </a:solidFill>
                  </a:tcPr>
                </a:tc>
              </a:tr>
              <a:tr h="498348">
                <a:tc>
                  <a:txBody>
                    <a:bodyPr wrap="square"/>
                    <a:lstStyle/>
                    <a:p>
                      <a:pPr>
                        <a:lnSpc>
                          <a:spcPct val="114000"/>
                        </a:lnSpc>
                      </a:pPr>
                      <a:r>
                        <a:rPr sz="1200" b="1" i="0">
                          <a:solidFill>
                            <a:srgbClr val="F3E9EE"/>
                          </a:solidFill>
                          <a:latin typeface="Trebuchet MS"/>
                        </a:rPr>
                        <a:t>Preuve d'achat</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Une capture d'écran</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Une facture, pour les deux parties</a:t>
                      </a:r>
                    </a:p>
                  </a:txBody>
                  <a:tcPr marL="128016" marR="128016" marT="64008" marB="64008" anchor="ctr">
                    <a:solidFill>
                      <a:srgbClr val="1A1220"/>
                    </a:solidFill>
                  </a:tcPr>
                </a:tc>
              </a:tr>
              <a:tr h="498348">
                <a:tc>
                  <a:txBody>
                    <a:bodyPr wrap="square"/>
                    <a:lstStyle/>
                    <a:p>
                      <a:pPr>
                        <a:lnSpc>
                          <a:spcPct val="114000"/>
                        </a:lnSpc>
                      </a:pPr>
                      <a:r>
                        <a:rPr sz="1200" b="1" i="0">
                          <a:solidFill>
                            <a:srgbClr val="F3E9EE"/>
                          </a:solidFill>
                          <a:latin typeface="Trebuchet MS"/>
                        </a:rPr>
                        <a:t>Travail après le direct</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Des heures de saisie</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Zéro saisie : tout est déjà enregistré</a:t>
                      </a:r>
                    </a:p>
                  </a:txBody>
                  <a:tcPr marL="128016" marR="128016" marT="64008" marB="64008" anchor="ctr">
                    <a:solidFill>
                      <a:srgbClr val="261B2E"/>
                    </a:solidFill>
                  </a:tcPr>
                </a:tc>
              </a:tr>
              <a:tr h="498348">
                <a:tc>
                  <a:txBody>
                    <a:bodyPr wrap="square"/>
                    <a:lstStyle/>
                    <a:p>
                      <a:pPr>
                        <a:lnSpc>
                          <a:spcPct val="114000"/>
                        </a:lnSpc>
                      </a:pPr>
                      <a:r>
                        <a:rPr sz="1200" b="1" i="0">
                          <a:solidFill>
                            <a:srgbClr val="F3E9EE"/>
                          </a:solidFill>
                          <a:latin typeface="Trebuchet MS"/>
                        </a:rPr>
                        <a:t>Livraison</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Arrangement au cas par cas</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À domicile ou point de retrait, suivi partagé</a:t>
                      </a:r>
                    </a:p>
                  </a:txBody>
                  <a:tcPr marL="128016" marR="128016" marT="64008" marB="64008" anchor="ctr">
                    <a:solidFill>
                      <a:srgbClr val="1A1220"/>
                    </a:solidFill>
                  </a:tcPr>
                </a:tc>
              </a:tr>
              <a:tr h="498348">
                <a:tc>
                  <a:txBody>
                    <a:bodyPr wrap="square"/>
                    <a:lstStyle/>
                    <a:p>
                      <a:pPr>
                        <a:lnSpc>
                          <a:spcPct val="114000"/>
                        </a:lnSpc>
                      </a:pPr>
                      <a:r>
                        <a:rPr sz="1200" b="1" i="0">
                          <a:solidFill>
                            <a:srgbClr val="F3E9EE"/>
                          </a:solidFill>
                          <a:latin typeface="Trebuchet MS"/>
                        </a:rPr>
                        <a:t>En cas de litige</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Parole contre parole</a:t>
                      </a:r>
                    </a:p>
                  </a:txBody>
                  <a:tcPr marL="128016" marR="128016" marT="64008" marB="64008" anchor="ctr">
                    <a:solidFill>
                      <a:srgbClr val="261B2E"/>
                    </a:solidFill>
                  </a:tcPr>
                </a:tc>
                <a:tc>
                  <a:txBody>
                    <a:bodyPr wrap="square"/>
                    <a:lstStyle/>
                    <a:p>
                      <a:pPr>
                        <a:lnSpc>
                          <a:spcPct val="114000"/>
                        </a:lnSpc>
                      </a:pPr>
                      <a:r>
                        <a:rPr sz="1200" b="0" i="0">
                          <a:solidFill>
                            <a:srgbClr val="A99AA4"/>
                          </a:solidFill>
                          <a:latin typeface="Trebuchet MS"/>
                        </a:rPr>
                        <a:t>Historique consultable des deux côtés</a:t>
                      </a:r>
                    </a:p>
                  </a:txBody>
                  <a:tcPr marL="128016" marR="128016" marT="64008" marB="64008" anchor="ctr">
                    <a:solidFill>
                      <a:srgbClr val="261B2E"/>
                    </a:solidFill>
                  </a:tcPr>
                </a:tc>
              </a:tr>
              <a:tr h="498348">
                <a:tc>
                  <a:txBody>
                    <a:bodyPr wrap="square"/>
                    <a:lstStyle/>
                    <a:p>
                      <a:pPr>
                        <a:lnSpc>
                          <a:spcPct val="114000"/>
                        </a:lnSpc>
                      </a:pPr>
                      <a:r>
                        <a:rPr sz="1200" b="1" i="0">
                          <a:solidFill>
                            <a:srgbClr val="F3E9EE"/>
                          </a:solidFill>
                          <a:latin typeface="Trebuchet MS"/>
                        </a:rPr>
                        <a:t>Le lendemain</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Le direct est mort</a:t>
                      </a:r>
                    </a:p>
                  </a:txBody>
                  <a:tcPr marL="128016" marR="128016" marT="64008" marB="64008" anchor="ctr">
                    <a:solidFill>
                      <a:srgbClr val="1A1220"/>
                    </a:solidFill>
                  </a:tcPr>
                </a:tc>
                <a:tc>
                  <a:txBody>
                    <a:bodyPr wrap="square"/>
                    <a:lstStyle/>
                    <a:p>
                      <a:pPr>
                        <a:lnSpc>
                          <a:spcPct val="114000"/>
                        </a:lnSpc>
                      </a:pPr>
                      <a:r>
                        <a:rPr sz="1200" b="0" i="0">
                          <a:solidFill>
                            <a:srgbClr val="A99AA4"/>
                          </a:solidFill>
                          <a:latin typeface="Trebuchet MS"/>
                        </a:rPr>
                        <a:t>Le contenu vend encore</a:t>
                      </a:r>
                    </a:p>
                  </a:txBody>
                  <a:tcPr marL="128016" marR="128016" marT="64008" marB="64008" anchor="ctr">
                    <a:solidFill>
                      <a:srgbClr val="1A1220"/>
                    </a:solidFill>
                  </a:tcPr>
                </a:tc>
              </a:tr>
            </a:tbl>
          </a:graphicData>
        </a:graphic>
      </p:graphicFrame>
      <p:sp>
        <p:nvSpPr>
          <p:cNvPr id="10" name="Rectangle 9"/>
          <p:cNvSpPr/>
          <p:nvPr/>
        </p:nvSpPr>
        <p:spPr>
          <a:xfrm>
            <a:off x="777240" y="2162556"/>
            <a:ext cx="10637215" cy="1270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5852013"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12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371600"/>
          </a:xfrm>
          <a:prstGeom prst="rect">
            <a:avLst/>
          </a:prstGeom>
          <a:noFill/>
        </p:spPr>
        <p:txBody>
          <a:bodyPr wrap="square" anchor="t" lIns="0" rIns="0" tIns="0" bIns="0"/>
          <a:lstStyle/>
          <a:p>
            <a:pPr>
              <a:lnSpc>
                <a:spcPct val="102000"/>
              </a:lnSpc>
            </a:pPr>
            <a:r>
              <a:rPr sz="4000" b="1" i="0" spc="-60">
                <a:solidFill>
                  <a:srgbClr val="F3E9EE"/>
                </a:solidFill>
                <a:latin typeface="Georgia"/>
              </a:rPr>
              <a:t>Le direct dure une heure.
Il en reste vingt-trois.</a:t>
            </a:r>
          </a:p>
        </p:txBody>
      </p:sp>
      <p:sp>
        <p:nvSpPr>
          <p:cNvPr id="9" name="TextBox 8"/>
          <p:cNvSpPr txBox="1"/>
          <p:nvPr/>
        </p:nvSpPr>
        <p:spPr>
          <a:xfrm>
            <a:off x="777240" y="2212848"/>
            <a:ext cx="10637215" cy="457200"/>
          </a:xfrm>
          <a:prstGeom prst="rect">
            <a:avLst/>
          </a:prstGeom>
          <a:noFill/>
        </p:spPr>
        <p:txBody>
          <a:bodyPr wrap="square" anchor="t" lIns="0" rIns="0" tIns="0" bIns="0"/>
          <a:lstStyle/>
          <a:p>
            <a:pPr>
              <a:lnSpc>
                <a:spcPct val="130000"/>
              </a:lnSpc>
            </a:pPr>
            <a:r>
              <a:rPr sz="1350" b="0" i="0">
                <a:solidFill>
                  <a:srgbClr val="A99AA4"/>
                </a:solidFill>
                <a:latin typeface="Trebuchet MS"/>
              </a:rPr>
              <a:t>Stories, vidéos verticales courtes, looks : un fil que l'on parcourt par balayage, personnalisé selon la taille, le budget et le style.</a:t>
            </a:r>
          </a:p>
        </p:txBody>
      </p:sp>
      <p:sp>
        <p:nvSpPr>
          <p:cNvPr id="10" name="TextBox 9"/>
          <p:cNvSpPr txBox="1"/>
          <p:nvPr/>
        </p:nvSpPr>
        <p:spPr>
          <a:xfrm>
            <a:off x="777240" y="2944368"/>
            <a:ext cx="10637215" cy="3273552"/>
          </a:xfrm>
          <a:prstGeom prst="rect">
            <a:avLst/>
          </a:prstGeom>
          <a:noFill/>
        </p:spPr>
        <p:txBody>
          <a:bodyPr wrap="square" anchor="t" lIns="0" rIns="0" tIns="0" bIns="0"/>
          <a:lstStyle/>
          <a:p>
            <a:pPr>
              <a:lnSpc>
                <a:spcPct val="122000"/>
              </a:lnSpc>
              <a:spcAft>
                <a:spcPts val="1100"/>
              </a:spcAft>
            </a:pPr>
            <a:r>
              <a:rPr sz="1300" b="1" i="0">
                <a:solidFill>
                  <a:srgbClr val="E4306E"/>
                </a:solidFill>
                <a:latin typeface="Consolas"/>
              </a:rPr>
              <a:t>— </a:t>
            </a:r>
            <a:r>
              <a:rPr sz="1300" b="1" i="0">
                <a:solidFill>
                  <a:srgbClr val="F3E9EE"/>
                </a:solidFill>
                <a:latin typeface="Trebuchet MS"/>
              </a:rPr>
              <a:t>Chaque vidéo est achetable.</a:t>
            </a:r>
            <a:r>
              <a:rPr sz="1300" b="0" i="0">
                <a:solidFill>
                  <a:srgbClr val="F3E9EE"/>
                </a:solidFill>
                <a:latin typeface="Trebuchet MS"/>
              </a:rPr>
              <a:t> L'article est là, avec son prix et son bouton. On achète sans quitter la vidéo, exactement comme en direct.</a:t>
            </a:r>
          </a:p>
          <a:p>
            <a:pPr>
              <a:lnSpc>
                <a:spcPct val="122000"/>
              </a:lnSpc>
              <a:spcAft>
                <a:spcPts val="1100"/>
              </a:spcAft>
            </a:pPr>
            <a:r>
              <a:rPr sz="1300" b="1" i="0">
                <a:solidFill>
                  <a:srgbClr val="E4306E"/>
                </a:solidFill>
                <a:latin typeface="Consolas"/>
              </a:rPr>
              <a:t>— </a:t>
            </a:r>
            <a:r>
              <a:rPr sz="1300" b="1" i="0">
                <a:solidFill>
                  <a:srgbClr val="F3E9EE"/>
                </a:solidFill>
                <a:latin typeface="Trebuchet MS"/>
              </a:rPr>
              <a:t>Le catalogue reste ouvert 24 h/24.</a:t>
            </a:r>
            <a:r>
              <a:rPr sz="1300" b="0" i="0">
                <a:solidFill>
                  <a:srgbClr val="F3E9EE"/>
                </a:solidFill>
                <a:latin typeface="Trebuchet MS"/>
              </a:rPr>
              <a:t> Chaque vendeur a sa vitrine, même hors direct.</a:t>
            </a:r>
          </a:p>
          <a:p>
            <a:pPr>
              <a:lnSpc>
                <a:spcPct val="122000"/>
              </a:lnSpc>
              <a:spcAft>
                <a:spcPts val="1100"/>
              </a:spcAft>
            </a:pPr>
            <a:r>
              <a:rPr sz="1300" b="1" i="0">
                <a:solidFill>
                  <a:srgbClr val="E4306E"/>
                </a:solidFill>
                <a:latin typeface="Consolas"/>
              </a:rPr>
              <a:t>— </a:t>
            </a:r>
            <a:r>
              <a:rPr sz="1300" b="1" i="0">
                <a:solidFill>
                  <a:srgbClr val="F3E9EE"/>
                </a:solidFill>
                <a:latin typeface="Trebuchet MS"/>
              </a:rPr>
              <a:t>La vidéo est une meilleure preuve que la photo.</a:t>
            </a:r>
            <a:r>
              <a:rPr sz="1300" b="0" i="0">
                <a:solidFill>
                  <a:srgbClr val="F3E9EE"/>
                </a:solidFill>
                <a:latin typeface="Trebuchet MS"/>
              </a:rPr>
              <a:t> Une vraie personne, sa morphologie, le tombé du tissu : c'est le signal de taille le plus fiable qui existe.</a:t>
            </a:r>
          </a:p>
        </p:txBody>
      </p:sp>
      <p:sp>
        <p:nvSpPr>
          <p:cNvPr id="11" name="Rectangle 10"/>
          <p:cNvSpPr/>
          <p:nvPr/>
        </p:nvSpPr>
        <p:spPr>
          <a:xfrm>
            <a:off x="777240" y="5029200"/>
            <a:ext cx="10637215" cy="10515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400" b="1" i="0">
                <a:solidFill>
                  <a:srgbClr val="E4306E"/>
                </a:solidFill>
                <a:latin typeface="Trebuchet MS"/>
              </a:rPr>
              <a:t>Règle absolue : aucun contenu sans article achetable attaché.</a:t>
            </a:r>
            <a:r>
              <a:rPr sz="1400" b="0" i="0">
                <a:solidFill>
                  <a:srgbClr val="F3E9EE"/>
                </a:solidFill>
                <a:latin typeface="Trebuchet MS"/>
              </a:rPr>
              <a:t> JP n'est pas un réseau social avec une boutique. C'est une boutique dont le catalogue est fait de vidéos.</a:t>
            </a:r>
          </a:p>
        </p:txBody>
      </p:sp>
      <p:sp>
        <p:nvSpPr>
          <p:cNvPr id="12" name="Rectangle 11"/>
          <p:cNvSpPr/>
          <p:nvPr/>
        </p:nvSpPr>
        <p:spPr>
          <a:xfrm>
            <a:off x="777240" y="5029200"/>
            <a:ext cx="50292" cy="105156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6339681"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13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400" b="1" i="0" spc="-60">
                <a:solidFill>
                  <a:srgbClr val="F3E9EE"/>
                </a:solidFill>
                <a:latin typeface="Georgia"/>
              </a:rPr>
              <a:t>Un geste. Cinq résultats.</a:t>
            </a:r>
          </a:p>
        </p:txBody>
      </p:sp>
      <p:sp>
        <p:nvSpPr>
          <p:cNvPr id="9" name="TextBox 8"/>
          <p:cNvSpPr txBox="1"/>
          <p:nvPr/>
        </p:nvSpPr>
        <p:spPr>
          <a:xfrm>
            <a:off x="777240" y="1874519"/>
            <a:ext cx="10637215" cy="457200"/>
          </a:xfrm>
          <a:prstGeom prst="rect">
            <a:avLst/>
          </a:prstGeom>
          <a:noFill/>
        </p:spPr>
        <p:txBody>
          <a:bodyPr wrap="square" anchor="t" lIns="0" rIns="0" tIns="0" bIns="0"/>
          <a:lstStyle/>
          <a:p>
            <a:pPr>
              <a:lnSpc>
                <a:spcPct val="130000"/>
              </a:lnSpc>
            </a:pPr>
            <a:r>
              <a:rPr sz="1500" b="0" i="0">
                <a:solidFill>
                  <a:srgbClr val="F3E9EE"/>
                </a:solidFill>
                <a:latin typeface="Trebuchet MS"/>
              </a:rPr>
              <a:t>L'acheteuse filme l'ouverture de son colis.</a:t>
            </a:r>
          </a:p>
        </p:txBody>
      </p:sp>
      <p:graphicFrame>
        <p:nvGraphicFramePr>
          <p:cNvPr id="10" name="Table 9"/>
          <p:cNvGraphicFramePr>
            <a:graphicFrameLocks noGrp="1"/>
          </p:cNvGraphicFramePr>
          <p:nvPr/>
        </p:nvGraphicFramePr>
        <p:xfrm>
          <a:off x="777240" y="2395728"/>
          <a:ext cx="10637215" cy="2743200"/>
        </p:xfrm>
        <a:graphic>
          <a:graphicData uri="http://schemas.openxmlformats.org/drawingml/2006/table">
            <a:tbl>
              <a:tblPr firstRow="1" bandRow="0">
                <a:tableStyleId>{2D5ABB26-0587-4C30-8999-92F81FD0307C}</a:tableStyleId>
              </a:tblPr>
              <a:tblGrid>
                <a:gridCol w="3931920"/>
                <a:gridCol w="6705295"/>
              </a:tblGrid>
              <a:tr h="457200">
                <a:tc>
                  <a:txBody>
                    <a:bodyPr wrap="square"/>
                    <a:lstStyle/>
                    <a:p>
                      <a:pPr>
                        <a:lnSpc>
                          <a:spcPct val="114000"/>
                        </a:lnSpc>
                      </a:pPr>
                      <a:r>
                        <a:rPr sz="1000" b="1" i="0" spc="120">
                          <a:solidFill>
                            <a:srgbClr val="E4306E"/>
                          </a:solidFill>
                          <a:latin typeface="Consolas"/>
                        </a:rPr>
                        <a:t>CE QU'ELLE FAIT</a:t>
                      </a:r>
                    </a:p>
                  </a:txBody>
                  <a:tcPr marL="128016" marR="128016" marT="64008" marB="64008" anchor="ctr">
                    <a:solidFill>
                      <a:srgbClr val="1A1220"/>
                    </a:solidFill>
                  </a:tcPr>
                </a:tc>
                <a:tc>
                  <a:txBody>
                    <a:bodyPr wrap="square"/>
                    <a:lstStyle/>
                    <a:p>
                      <a:pPr>
                        <a:lnSpc>
                          <a:spcPct val="114000"/>
                        </a:lnSpc>
                      </a:pPr>
                      <a:r>
                        <a:rPr sz="1000" b="1" i="0" spc="120">
                          <a:solidFill>
                            <a:srgbClr val="E4306E"/>
                          </a:solidFill>
                          <a:latin typeface="Consolas"/>
                        </a:rPr>
                        <a:t>CE QUE ÇA PRODUIT</a:t>
                      </a:r>
                    </a:p>
                  </a:txBody>
                  <a:tcPr marL="128016" marR="128016" marT="64008" marB="64008" anchor="ctr">
                    <a:solidFill>
                      <a:srgbClr val="1A1220"/>
                    </a:solidFill>
                  </a:tcPr>
                </a:tc>
              </a:tr>
              <a:tr h="457200">
                <a:tc>
                  <a:txBody>
                    <a:bodyPr wrap="square"/>
                    <a:lstStyle/>
                    <a:p>
                      <a:pPr>
                        <a:lnSpc>
                          <a:spcPct val="114000"/>
                        </a:lnSpc>
                      </a:pPr>
                      <a:r>
                        <a:rPr sz="1250" b="1" i="0">
                          <a:solidFill>
                            <a:srgbClr val="F3E9EE"/>
                          </a:solidFill>
                          <a:latin typeface="Trebuchet MS"/>
                        </a:rPr>
                        <a:t>Elle filme</a:t>
                      </a:r>
                    </a:p>
                  </a:txBody>
                  <a:tcPr marL="128016" marR="128016" marT="64008" marB="64008" anchor="ctr">
                    <a:solidFill>
                      <a:srgbClr val="261B2E"/>
                    </a:solidFill>
                  </a:tcPr>
                </a:tc>
                <a:tc>
                  <a:txBody>
                    <a:bodyPr wrap="square"/>
                    <a:lstStyle/>
                    <a:p>
                      <a:pPr>
                        <a:lnSpc>
                          <a:spcPct val="114000"/>
                        </a:lnSpc>
                      </a:pPr>
                      <a:r>
                        <a:rPr sz="1250" b="0" i="0">
                          <a:solidFill>
                            <a:srgbClr val="A99AA4"/>
                          </a:solidFill>
                          <a:latin typeface="Trebuchet MS"/>
                        </a:rPr>
                        <a:t>Du contenu gratuit pour le fil</a:t>
                      </a:r>
                    </a:p>
                  </a:txBody>
                  <a:tcPr marL="128016" marR="128016" marT="64008" marB="64008" anchor="ctr">
                    <a:solidFill>
                      <a:srgbClr val="261B2E"/>
                    </a:solidFill>
                  </a:tcPr>
                </a:tc>
              </a:tr>
              <a:tr h="457200">
                <a:tc>
                  <a:txBody>
                    <a:bodyPr wrap="square"/>
                    <a:lstStyle/>
                    <a:p>
                      <a:pPr>
                        <a:lnSpc>
                          <a:spcPct val="114000"/>
                        </a:lnSpc>
                      </a:pPr>
                      <a:r>
                        <a:rPr sz="1250" b="1" i="0">
                          <a:solidFill>
                            <a:srgbClr val="F3E9EE"/>
                          </a:solidFill>
                          <a:latin typeface="Trebuchet MS"/>
                        </a:rPr>
                        <a:t>Elle publie</a:t>
                      </a:r>
                    </a:p>
                  </a:txBody>
                  <a:tcPr marL="128016" marR="128016" marT="64008" marB="64008" anchor="ctr">
                    <a:solidFill>
                      <a:srgbClr val="1A1220"/>
                    </a:solidFill>
                  </a:tcPr>
                </a:tc>
                <a:tc>
                  <a:txBody>
                    <a:bodyPr wrap="square"/>
                    <a:lstStyle/>
                    <a:p>
                      <a:pPr>
                        <a:lnSpc>
                          <a:spcPct val="114000"/>
                        </a:lnSpc>
                      </a:pPr>
                      <a:r>
                        <a:rPr sz="1250" b="0" i="0">
                          <a:solidFill>
                            <a:srgbClr val="A99AA4"/>
                          </a:solidFill>
                          <a:latin typeface="Trebuchet MS"/>
                        </a:rPr>
                        <a:t>La preuve publique que JP livre pour de vrai</a:t>
                      </a:r>
                    </a:p>
                  </a:txBody>
                  <a:tcPr marL="128016" marR="128016" marT="64008" marB="64008" anchor="ctr">
                    <a:solidFill>
                      <a:srgbClr val="1A1220"/>
                    </a:solidFill>
                  </a:tcPr>
                </a:tc>
              </a:tr>
              <a:tr h="457200">
                <a:tc>
                  <a:txBody>
                    <a:bodyPr wrap="square"/>
                    <a:lstStyle/>
                    <a:p>
                      <a:pPr>
                        <a:lnSpc>
                          <a:spcPct val="114000"/>
                        </a:lnSpc>
                      </a:pPr>
                      <a:r>
                        <a:rPr sz="1250" b="1" i="0">
                          <a:solidFill>
                            <a:srgbClr val="F3E9EE"/>
                          </a:solidFill>
                          <a:latin typeface="Trebuchet MS"/>
                        </a:rPr>
                        <a:t>Elle valide la réception</a:t>
                      </a:r>
                    </a:p>
                  </a:txBody>
                  <a:tcPr marL="128016" marR="128016" marT="64008" marB="64008" anchor="ctr">
                    <a:solidFill>
                      <a:srgbClr val="261B2E"/>
                    </a:solidFill>
                  </a:tcPr>
                </a:tc>
                <a:tc>
                  <a:txBody>
                    <a:bodyPr wrap="square"/>
                    <a:lstStyle/>
                    <a:p>
                      <a:pPr>
                        <a:lnSpc>
                          <a:spcPct val="114000"/>
                        </a:lnSpc>
                      </a:pPr>
                      <a:r>
                        <a:rPr sz="1250" b="0" i="0">
                          <a:solidFill>
                            <a:srgbClr val="A99AA4"/>
                          </a:solidFill>
                          <a:latin typeface="Trebuchet MS"/>
                        </a:rPr>
                        <a:t>Les fonds sont libérés vers la vendeuse</a:t>
                      </a:r>
                    </a:p>
                  </a:txBody>
                  <a:tcPr marL="128016" marR="128016" marT="64008" marB="64008" anchor="ctr">
                    <a:solidFill>
                      <a:srgbClr val="261B2E"/>
                    </a:solidFill>
                  </a:tcPr>
                </a:tc>
              </a:tr>
              <a:tr h="457200">
                <a:tc>
                  <a:txBody>
                    <a:bodyPr wrap="square"/>
                    <a:lstStyle/>
                    <a:p>
                      <a:pPr>
                        <a:lnSpc>
                          <a:spcPct val="114000"/>
                        </a:lnSpc>
                      </a:pPr>
                      <a:r>
                        <a:rPr sz="1250" b="1" i="0">
                          <a:solidFill>
                            <a:srgbClr val="F3E9EE"/>
                          </a:solidFill>
                          <a:latin typeface="Trebuchet MS"/>
                        </a:rPr>
                        <a:t>Elle dit si ça taille bien</a:t>
                      </a:r>
                    </a:p>
                  </a:txBody>
                  <a:tcPr marL="128016" marR="128016" marT="64008" marB="64008" anchor="ctr">
                    <a:solidFill>
                      <a:srgbClr val="1A1220"/>
                    </a:solidFill>
                  </a:tcPr>
                </a:tc>
                <a:tc>
                  <a:txBody>
                    <a:bodyPr wrap="square"/>
                    <a:lstStyle/>
                    <a:p>
                      <a:pPr>
                        <a:lnSpc>
                          <a:spcPct val="114000"/>
                        </a:lnSpc>
                      </a:pPr>
                      <a:r>
                        <a:rPr sz="1250" b="0" i="0">
                          <a:solidFill>
                            <a:srgbClr val="A99AA4"/>
                          </a:solidFill>
                          <a:latin typeface="Trebuchet MS"/>
                        </a:rPr>
                        <a:t>Un avis vérifié</a:t>
                      </a:r>
                    </a:p>
                  </a:txBody>
                  <a:tcPr marL="128016" marR="128016" marT="64008" marB="64008" anchor="ctr">
                    <a:solidFill>
                      <a:srgbClr val="1A1220"/>
                    </a:solidFill>
                  </a:tcPr>
                </a:tc>
              </a:tr>
              <a:tr h="457200">
                <a:tc>
                  <a:txBody>
                    <a:bodyPr wrap="square"/>
                    <a:lstStyle/>
                    <a:p>
                      <a:pPr>
                        <a:lnSpc>
                          <a:spcPct val="114000"/>
                        </a:lnSpc>
                      </a:pPr>
                      <a:r>
                        <a:rPr sz="1250" b="1" i="0">
                          <a:solidFill>
                            <a:srgbClr val="F3E9EE"/>
                          </a:solidFill>
                          <a:latin typeface="Trebuchet MS"/>
                        </a:rPr>
                        <a:t>Elle poste</a:t>
                      </a:r>
                    </a:p>
                  </a:txBody>
                  <a:tcPr marL="128016" marR="128016" marT="64008" marB="64008" anchor="ctr">
                    <a:solidFill>
                      <a:srgbClr val="261B2E"/>
                    </a:solidFill>
                  </a:tcPr>
                </a:tc>
                <a:tc>
                  <a:txBody>
                    <a:bodyPr wrap="square"/>
                    <a:lstStyle/>
                    <a:p>
                      <a:pPr>
                        <a:lnSpc>
                          <a:spcPct val="114000"/>
                        </a:lnSpc>
                      </a:pPr>
                      <a:r>
                        <a:rPr sz="1250" b="0" i="0">
                          <a:solidFill>
                            <a:srgbClr val="A99AA4"/>
                          </a:solidFill>
                          <a:latin typeface="Trebuchet MS"/>
                        </a:rPr>
                        <a:t>Du crédit dans sa cagnotte</a:t>
                      </a:r>
                    </a:p>
                  </a:txBody>
                  <a:tcPr marL="128016" marR="128016" marT="64008" marB="64008" anchor="ctr">
                    <a:solidFill>
                      <a:srgbClr val="261B2E"/>
                    </a:solidFill>
                  </a:tcPr>
                </a:tc>
              </a:tr>
            </a:tbl>
          </a:graphicData>
        </a:graphic>
      </p:graphicFrame>
      <p:sp>
        <p:nvSpPr>
          <p:cNvPr id="11" name="Rectangle 10"/>
          <p:cNvSpPr/>
          <p:nvPr/>
        </p:nvSpPr>
        <p:spPr>
          <a:xfrm>
            <a:off x="777240" y="2852928"/>
            <a:ext cx="10637215" cy="1270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2" name="TextBox 11"/>
          <p:cNvSpPr txBox="1"/>
          <p:nvPr/>
        </p:nvSpPr>
        <p:spPr>
          <a:xfrm>
            <a:off x="777240" y="5230368"/>
            <a:ext cx="10637215" cy="411480"/>
          </a:xfrm>
          <a:prstGeom prst="rect">
            <a:avLst/>
          </a:prstGeom>
          <a:noFill/>
        </p:spPr>
        <p:txBody>
          <a:bodyPr wrap="square" anchor="t" lIns="0" rIns="0" tIns="0" bIns="0"/>
          <a:lstStyle/>
          <a:p>
            <a:r>
              <a:rPr sz="1400" b="1" i="0">
                <a:solidFill>
                  <a:srgbClr val="E4306E"/>
                </a:solidFill>
                <a:latin typeface="Trebuchet MS"/>
              </a:rPr>
              <a:t>C'est le pendant social du bouton « Je prends » : un seul geste, plusieurs problèmes réglés.</a:t>
            </a:r>
          </a:p>
        </p:txBody>
      </p:sp>
      <p:sp>
        <p:nvSpPr>
          <p:cNvPr id="13" name="TextBox 12"/>
          <p:cNvSpPr txBox="1"/>
          <p:nvPr/>
        </p:nvSpPr>
        <p:spPr>
          <a:xfrm>
            <a:off x="777240" y="5705856"/>
            <a:ext cx="10637215" cy="365760"/>
          </a:xfrm>
          <a:prstGeom prst="rect">
            <a:avLst/>
          </a:prstGeom>
          <a:noFill/>
        </p:spPr>
        <p:txBody>
          <a:bodyPr wrap="square" anchor="t" lIns="0" rIns="0" tIns="0" bIns="0"/>
          <a:lstStyle/>
          <a:p>
            <a:r>
              <a:rPr sz="1200" b="0" i="1">
                <a:solidFill>
                  <a:srgbClr val="A99AA4"/>
                </a:solidFill>
                <a:latin typeface="Trebuchet MS"/>
              </a:rPr>
              <a:t>Et personne n'est obligé de se filmer : la confirmation en un appui reste toujours disponible.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6827349"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14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000" b="1" i="0" spc="-60">
                <a:solidFill>
                  <a:srgbClr val="F3E9EE"/>
                </a:solidFill>
                <a:latin typeface="Georgia"/>
              </a:rPr>
              <a:t>Elle n'a pas besoin d'acheter le stock.</a:t>
            </a:r>
          </a:p>
        </p:txBody>
      </p:sp>
      <p:sp>
        <p:nvSpPr>
          <p:cNvPr id="9" name="Rectangle 8"/>
          <p:cNvSpPr/>
          <p:nvPr/>
        </p:nvSpPr>
        <p:spPr>
          <a:xfrm>
            <a:off x="777240" y="1965960"/>
            <a:ext cx="5090007" cy="1874519"/>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46304" bIns="109728"/>
          <a:lstStyle/>
          <a:p>
            <a:pPr algn="l">
              <a:lnSpc>
                <a:spcPct val="124000"/>
              </a:lnSpc>
            </a:pPr>
            <a:r>
              <a:rPr sz="1500" b="1" i="0">
                <a:solidFill>
                  <a:srgbClr val="E4306E"/>
                </a:solidFill>
                <a:latin typeface="Trebuchet MS"/>
              </a:rPr>
              <a:t>L'affiliation
</a:t>
            </a:r>
            <a:r>
              <a:rPr sz="1250" b="0" i="0">
                <a:solidFill>
                  <a:srgbClr val="A99AA4"/>
                </a:solidFill>
                <a:latin typeface="Trebuchet MS"/>
              </a:rPr>
              <a:t>Elle ne possède rien. Elle recommande les articles d'autres vendeurs, et touche une commission sur ce qui se vend grâce à elle. Zéro capital, zéro stock, zéro logistique. Elle gagne enfin de l'argent avec ce qu'elle fait déjà gratuitement.</a:t>
            </a:r>
          </a:p>
        </p:txBody>
      </p:sp>
      <p:sp>
        <p:nvSpPr>
          <p:cNvPr id="10" name="Rectangle 9"/>
          <p:cNvSpPr/>
          <p:nvPr/>
        </p:nvSpPr>
        <p:spPr>
          <a:xfrm>
            <a:off x="777240" y="1965960"/>
            <a:ext cx="50292" cy="1874519"/>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Rectangle 10"/>
          <p:cNvSpPr/>
          <p:nvPr/>
        </p:nvSpPr>
        <p:spPr>
          <a:xfrm>
            <a:off x="6324447" y="1965960"/>
            <a:ext cx="5090007" cy="1874519"/>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46304" bIns="109728"/>
          <a:lstStyle/>
          <a:p>
            <a:pPr algn="l">
              <a:lnSpc>
                <a:spcPct val="124000"/>
              </a:lnSpc>
            </a:pPr>
            <a:r>
              <a:rPr sz="1500" b="1" i="0">
                <a:solidFill>
                  <a:srgbClr val="2FBF9B"/>
                </a:solidFill>
                <a:latin typeface="Trebuchet MS"/>
              </a:rPr>
              <a:t>La précommande groupée
</a:t>
            </a:r>
            <a:r>
              <a:rPr sz="1250" b="0" i="0">
                <a:solidFill>
                  <a:srgbClr val="A99AA4"/>
                </a:solidFill>
                <a:latin typeface="Trebuchet MS"/>
              </a:rPr>
              <a:t>Elle publie un article, collecte les commandes, et ne commande chez le fournisseur qu'une fois le seuil atteint. Elle achète avec l'argent des clientes, pas avec le sien.</a:t>
            </a:r>
          </a:p>
        </p:txBody>
      </p:sp>
      <p:sp>
        <p:nvSpPr>
          <p:cNvPr id="12" name="Rectangle 11"/>
          <p:cNvSpPr/>
          <p:nvPr/>
        </p:nvSpPr>
        <p:spPr>
          <a:xfrm>
            <a:off x="6324447" y="1965960"/>
            <a:ext cx="50292" cy="1874519"/>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3" name="Rectangle 12"/>
          <p:cNvSpPr/>
          <p:nvPr/>
        </p:nvSpPr>
        <p:spPr>
          <a:xfrm>
            <a:off x="777240" y="4069080"/>
            <a:ext cx="10637215" cy="96012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400" b="1" i="0">
                <a:solidFill>
                  <a:srgbClr val="2FBF9B"/>
                </a:solidFill>
                <a:latin typeface="Trebuchet MS"/>
              </a:rPr>
              <a:t>Et si le seuil n'est pas atteint, tout le monde est remboursé automatiquement.</a:t>
            </a:r>
            <a:r>
              <a:rPr sz="1400" b="0" i="0">
                <a:solidFill>
                  <a:srgbClr val="F3E9EE"/>
                </a:solidFill>
                <a:latin typeface="Trebuchet MS"/>
              </a:rPr>
              <a:t> Sans discussion, sans intervention. C'est ce qui rend la précommande acceptable.</a:t>
            </a:r>
          </a:p>
        </p:txBody>
      </p:sp>
      <p:sp>
        <p:nvSpPr>
          <p:cNvPr id="14" name="Rectangle 13"/>
          <p:cNvSpPr/>
          <p:nvPr/>
        </p:nvSpPr>
        <p:spPr>
          <a:xfrm>
            <a:off x="777240" y="4069080"/>
            <a:ext cx="50292" cy="96012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5" name="TextBox 14"/>
          <p:cNvSpPr txBox="1"/>
          <p:nvPr/>
        </p:nvSpPr>
        <p:spPr>
          <a:xfrm>
            <a:off x="777240" y="5285232"/>
            <a:ext cx="10637215" cy="457200"/>
          </a:xfrm>
          <a:prstGeom prst="rect">
            <a:avLst/>
          </a:prstGeom>
          <a:noFill/>
        </p:spPr>
        <p:txBody>
          <a:bodyPr wrap="square" anchor="t" lIns="0" rIns="0" tIns="0" bIns="0"/>
          <a:lstStyle/>
          <a:p>
            <a:r>
              <a:rPr sz="1500" b="1" i="0">
                <a:solidFill>
                  <a:srgbClr val="F3E9EE"/>
                </a:solidFill>
                <a:latin typeface="Trebuchet MS"/>
              </a:rPr>
              <a:t>On ne lui montre pas des vues. On lui montre ce qu'elle a fait gagner.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7315017"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15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000" b="1" i="0" spc="-60">
                <a:solidFill>
                  <a:srgbClr val="F3E9EE"/>
                </a:solidFill>
                <a:latin typeface="Georgia"/>
              </a:rPr>
              <a:t>Offrir un objet, pas envoyer de l'argent.</a:t>
            </a:r>
          </a:p>
        </p:txBody>
      </p:sp>
      <p:sp>
        <p:nvSpPr>
          <p:cNvPr id="9" name="TextBox 8"/>
          <p:cNvSpPr txBox="1"/>
          <p:nvPr/>
        </p:nvSpPr>
        <p:spPr>
          <a:xfrm>
            <a:off x="777240" y="1874519"/>
            <a:ext cx="10637215" cy="457200"/>
          </a:xfrm>
          <a:prstGeom prst="rect">
            <a:avLst/>
          </a:prstGeom>
          <a:noFill/>
        </p:spPr>
        <p:txBody>
          <a:bodyPr wrap="square" anchor="t" lIns="0" rIns="0" tIns="0" bIns="0"/>
          <a:lstStyle/>
          <a:p>
            <a:pPr>
              <a:lnSpc>
                <a:spcPct val="130000"/>
              </a:lnSpc>
            </a:pPr>
            <a:r>
              <a:rPr sz="1400" b="0" i="0">
                <a:solidFill>
                  <a:srgbClr val="F3E9EE"/>
                </a:solidFill>
                <a:latin typeface="Trebuchet MS"/>
              </a:rPr>
              <a:t>Elle compose son panier. Elle envoie un lien. Quelqu'un d'autre paie — son frère, sa mère, une amie, ou quelqu'un depuis l'étranger, par carte.</a:t>
            </a:r>
          </a:p>
        </p:txBody>
      </p:sp>
      <p:sp>
        <p:nvSpPr>
          <p:cNvPr id="10" name="TextBox 9"/>
          <p:cNvSpPr txBox="1"/>
          <p:nvPr/>
        </p:nvSpPr>
        <p:spPr>
          <a:xfrm>
            <a:off x="777240" y="2761488"/>
            <a:ext cx="10637215" cy="292608"/>
          </a:xfrm>
          <a:prstGeom prst="rect">
            <a:avLst/>
          </a:prstGeom>
          <a:noFill/>
        </p:spPr>
        <p:txBody>
          <a:bodyPr wrap="square" anchor="t" lIns="0" rIns="0" tIns="0" bIns="0"/>
          <a:lstStyle/>
          <a:p>
            <a:r>
              <a:rPr sz="1050" b="1" i="0" spc="140">
                <a:solidFill>
                  <a:srgbClr val="2FBF9B"/>
                </a:solidFill>
                <a:latin typeface="Consolas"/>
              </a:rPr>
              <a:t>POURQUOI C'EST SÉRIEUX</a:t>
            </a:r>
          </a:p>
        </p:txBody>
      </p:sp>
      <p:sp>
        <p:nvSpPr>
          <p:cNvPr id="11" name="Rectangle 10"/>
          <p:cNvSpPr/>
          <p:nvPr/>
        </p:nvSpPr>
        <p:spPr>
          <a:xfrm>
            <a:off x="777240" y="3072384"/>
            <a:ext cx="10637215" cy="9525"/>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2" name="TextBox 11"/>
          <p:cNvSpPr txBox="1"/>
          <p:nvPr/>
        </p:nvSpPr>
        <p:spPr>
          <a:xfrm>
            <a:off x="777240" y="3291840"/>
            <a:ext cx="10637215" cy="2926080"/>
          </a:xfrm>
          <a:prstGeom prst="rect">
            <a:avLst/>
          </a:prstGeom>
          <a:noFill/>
        </p:spPr>
        <p:txBody>
          <a:bodyPr wrap="square" anchor="t" lIns="0" rIns="0" tIns="0" bIns="0"/>
          <a:lstStyle/>
          <a:p>
            <a:pPr>
              <a:lnSpc>
                <a:spcPct val="122000"/>
              </a:lnSpc>
              <a:spcAft>
                <a:spcPts val="900"/>
              </a:spcAft>
            </a:pPr>
            <a:r>
              <a:rPr sz="1250" b="1" i="0">
                <a:solidFill>
                  <a:srgbClr val="2FBF9B"/>
                </a:solidFill>
                <a:latin typeface="Consolas"/>
              </a:rPr>
              <a:t>— </a:t>
            </a:r>
            <a:r>
              <a:rPr sz="1250" b="0" i="0">
                <a:solidFill>
                  <a:srgbClr val="F3E9EE"/>
                </a:solidFill>
                <a:latin typeface="Trebuchet MS"/>
              </a:rPr>
              <a:t>Le panier d'un cadeau est </a:t>
            </a:r>
            <a:r>
              <a:rPr sz="1250" b="1" i="0">
                <a:solidFill>
                  <a:srgbClr val="2FBF9B"/>
                </a:solidFill>
                <a:latin typeface="Trebuchet MS"/>
              </a:rPr>
              <a:t>structurellement plus élevé</a:t>
            </a:r>
            <a:r>
              <a:rPr sz="1250" b="0" i="0">
                <a:solidFill>
                  <a:srgbClr val="F3E9EE"/>
                </a:solidFill>
                <a:latin typeface="Trebuchet MS"/>
              </a:rPr>
              <a:t> : on n'offre pas au prix qu'on se paie à soi-même.</a:t>
            </a:r>
          </a:p>
          <a:p>
            <a:pPr>
              <a:lnSpc>
                <a:spcPct val="122000"/>
              </a:lnSpc>
              <a:spcAft>
                <a:spcPts val="900"/>
              </a:spcAft>
            </a:pPr>
            <a:r>
              <a:rPr sz="1250" b="1" i="0">
                <a:solidFill>
                  <a:srgbClr val="2FBF9B"/>
                </a:solidFill>
                <a:latin typeface="Consolas"/>
              </a:rPr>
              <a:t>— </a:t>
            </a:r>
            <a:r>
              <a:rPr sz="1250" b="0" i="0">
                <a:solidFill>
                  <a:srgbClr val="F3E9EE"/>
                </a:solidFill>
                <a:latin typeface="Trebuchet MS"/>
              </a:rPr>
              <a:t>Celui qui paie </a:t>
            </a:r>
            <a:r>
              <a:rPr sz="1250" b="1" i="0">
                <a:solidFill>
                  <a:srgbClr val="2FBF9B"/>
                </a:solidFill>
                <a:latin typeface="Trebuchet MS"/>
              </a:rPr>
              <a:t>n'a pas la contrainte de pouvoir d'achat locale</a:t>
            </a:r>
            <a:r>
              <a:rPr sz="1250" b="0" i="0">
                <a:solidFill>
                  <a:srgbClr val="F3E9EE"/>
                </a:solidFill>
                <a:latin typeface="Trebuchet MS"/>
              </a:rPr>
              <a:t>. Le plafond du doute saute.</a:t>
            </a:r>
          </a:p>
          <a:p>
            <a:pPr>
              <a:lnSpc>
                <a:spcPct val="122000"/>
              </a:lnSpc>
              <a:spcAft>
                <a:spcPts val="900"/>
              </a:spcAft>
            </a:pPr>
            <a:r>
              <a:rPr sz="1250" b="1" i="0">
                <a:solidFill>
                  <a:srgbClr val="2FBF9B"/>
                </a:solidFill>
                <a:latin typeface="Consolas"/>
              </a:rPr>
              <a:t>— </a:t>
            </a:r>
            <a:r>
              <a:rPr sz="1250" b="0" i="0">
                <a:solidFill>
                  <a:srgbClr val="F3E9EE"/>
                </a:solidFill>
                <a:latin typeface="Trebuchet MS"/>
              </a:rPr>
              <a:t>La diaspora envoie aujourd'hui de l'argent </a:t>
            </a:r>
            <a:r>
              <a:rPr sz="1250" b="1" i="0">
                <a:solidFill>
                  <a:srgbClr val="2FBF9B"/>
                </a:solidFill>
                <a:latin typeface="Trebuchet MS"/>
              </a:rPr>
              <a:t>sans jamais savoir ce qui en est fait</a:t>
            </a:r>
            <a:r>
              <a:rPr sz="1250" b="0" i="0">
                <a:solidFill>
                  <a:srgbClr val="F3E9EE"/>
                </a:solidFill>
                <a:latin typeface="Trebuchet MS"/>
              </a:rPr>
              <a:t>. Ici, elle offre un objet précis, chez un vendeur vérifié, avec le suivi et la preuve de remise.</a:t>
            </a:r>
          </a:p>
          <a:p>
            <a:pPr>
              <a:lnSpc>
                <a:spcPct val="122000"/>
              </a:lnSpc>
              <a:spcAft>
                <a:spcPts val="900"/>
              </a:spcAft>
            </a:pPr>
            <a:r>
              <a:rPr sz="1250" b="1" i="0">
                <a:solidFill>
                  <a:srgbClr val="2FBF9B"/>
                </a:solidFill>
                <a:latin typeface="Consolas"/>
              </a:rPr>
              <a:t>— </a:t>
            </a:r>
            <a:r>
              <a:rPr sz="1250" b="0" i="0">
                <a:solidFill>
                  <a:srgbClr val="F3E9EE"/>
                </a:solidFill>
                <a:latin typeface="Trebuchet MS"/>
              </a:rPr>
              <a:t>Le remerciement publié devient du contenu, donc de l'acquisition. </a:t>
            </a:r>
            <a:r>
              <a:rPr sz="1250" b="1" i="0">
                <a:solidFill>
                  <a:srgbClr val="2FBF9B"/>
                </a:solidFill>
                <a:latin typeface="Trebuchet MS"/>
              </a:rPr>
              <a:t>La boucle se referme.</a:t>
            </a:r>
          </a:p>
        </p:txBody>
      </p:sp>
      <p:sp>
        <p:nvSpPr>
          <p:cNvPr id="13" name="Rectangle 12"/>
          <p:cNvSpPr/>
          <p:nvPr/>
        </p:nvSpPr>
        <p:spPr>
          <a:xfrm>
            <a:off x="777240" y="5349240"/>
            <a:ext cx="10637215" cy="74980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400" b="1" i="0">
                <a:solidFill>
                  <a:srgbClr val="2FBF9B"/>
                </a:solidFill>
                <a:latin typeface="Trebuchet MS"/>
              </a:rPr>
              <a:t>C'est le premier canal de JP qui ne dépend pas du pouvoir d'achat local.</a:t>
            </a:r>
          </a:p>
        </p:txBody>
      </p:sp>
      <p:sp>
        <p:nvSpPr>
          <p:cNvPr id="14" name="Rectangle 13"/>
          <p:cNvSpPr/>
          <p:nvPr/>
        </p:nvSpPr>
        <p:spPr>
          <a:xfrm>
            <a:off x="777240" y="5349240"/>
            <a:ext cx="50292" cy="749808"/>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7802684"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16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400" b="1" i="0" spc="-60">
                <a:solidFill>
                  <a:srgbClr val="F3E9EE"/>
                </a:solidFill>
                <a:latin typeface="Georgia"/>
              </a:rPr>
              <a:t>Un produit, trois métiers.</a:t>
            </a:r>
          </a:p>
        </p:txBody>
      </p:sp>
      <p:sp>
        <p:nvSpPr>
          <p:cNvPr id="9" name="Rectangle 8"/>
          <p:cNvSpPr/>
          <p:nvPr/>
        </p:nvSpPr>
        <p:spPr>
          <a:xfrm>
            <a:off x="777240" y="2057400"/>
            <a:ext cx="3332378" cy="324612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p:txBody>
      </p:sp>
      <p:sp>
        <p:nvSpPr>
          <p:cNvPr id="10" name="Rectangle 9"/>
          <p:cNvSpPr/>
          <p:nvPr/>
        </p:nvSpPr>
        <p:spPr>
          <a:xfrm>
            <a:off x="777240" y="2057400"/>
            <a:ext cx="3332378" cy="4572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TextBox 10"/>
          <p:cNvSpPr txBox="1"/>
          <p:nvPr/>
        </p:nvSpPr>
        <p:spPr>
          <a:xfrm>
            <a:off x="1014984" y="2359152"/>
            <a:ext cx="2856890" cy="457200"/>
          </a:xfrm>
          <a:prstGeom prst="rect">
            <a:avLst/>
          </a:prstGeom>
          <a:noFill/>
        </p:spPr>
        <p:txBody>
          <a:bodyPr wrap="square" anchor="t" lIns="0" rIns="0" tIns="0" bIns="0"/>
          <a:lstStyle/>
          <a:p>
            <a:r>
              <a:rPr sz="1000" b="1" i="0" spc="120">
                <a:solidFill>
                  <a:srgbClr val="E4306E"/>
                </a:solidFill>
                <a:latin typeface="Consolas"/>
              </a:rPr>
              <a:t>VENDEUR — SON STUDIO</a:t>
            </a:r>
          </a:p>
        </p:txBody>
      </p:sp>
      <p:sp>
        <p:nvSpPr>
          <p:cNvPr id="12" name="TextBox 11"/>
          <p:cNvSpPr txBox="1"/>
          <p:nvPr/>
        </p:nvSpPr>
        <p:spPr>
          <a:xfrm>
            <a:off x="1014984" y="2907792"/>
            <a:ext cx="2856890" cy="2286000"/>
          </a:xfrm>
          <a:prstGeom prst="rect">
            <a:avLst/>
          </a:prstGeom>
          <a:noFill/>
        </p:spPr>
        <p:txBody>
          <a:bodyPr wrap="square" anchor="t" lIns="0" rIns="0" tIns="0" bIns="0"/>
          <a:lstStyle/>
          <a:p>
            <a:pPr>
              <a:lnSpc>
                <a:spcPct val="120000"/>
              </a:lnSpc>
              <a:spcAft>
                <a:spcPts val="1000"/>
              </a:spcAft>
            </a:pPr>
            <a:r>
              <a:rPr sz="1150" b="1" i="0">
                <a:solidFill>
                  <a:srgbClr val="E4306E"/>
                </a:solidFill>
                <a:latin typeface="Consolas"/>
              </a:rPr>
              <a:t>— </a:t>
            </a:r>
            <a:r>
              <a:rPr sz="1150" b="0" i="0">
                <a:solidFill>
                  <a:srgbClr val="F3E9EE"/>
                </a:solidFill>
                <a:latin typeface="Trebuchet MS"/>
              </a:rPr>
              <a:t>Passer en direct depuis son téléphone</a:t>
            </a:r>
          </a:p>
          <a:p>
            <a:pPr>
              <a:lnSpc>
                <a:spcPct val="120000"/>
              </a:lnSpc>
              <a:spcAft>
                <a:spcPts val="1000"/>
              </a:spcAft>
            </a:pPr>
            <a:r>
              <a:rPr sz="1150" b="1" i="0">
                <a:solidFill>
                  <a:srgbClr val="E4306E"/>
                </a:solidFill>
                <a:latin typeface="Consolas"/>
              </a:rPr>
              <a:t>— </a:t>
            </a:r>
            <a:r>
              <a:rPr sz="1150" b="0" i="0">
                <a:solidFill>
                  <a:srgbClr val="F3E9EE"/>
                </a:solidFill>
                <a:latin typeface="Trebuchet MS"/>
              </a:rPr>
              <a:t>Catalogue et stock en temps réel</a:t>
            </a:r>
          </a:p>
          <a:p>
            <a:pPr>
              <a:lnSpc>
                <a:spcPct val="120000"/>
              </a:lnSpc>
              <a:spcAft>
                <a:spcPts val="1000"/>
              </a:spcAft>
            </a:pPr>
            <a:r>
              <a:rPr sz="1150" b="1" i="0">
                <a:solidFill>
                  <a:srgbClr val="E4306E"/>
                </a:solidFill>
                <a:latin typeface="Consolas"/>
              </a:rPr>
              <a:t>— </a:t>
            </a:r>
            <a:r>
              <a:rPr sz="1150" b="0" i="0">
                <a:solidFill>
                  <a:srgbClr val="F3E9EE"/>
                </a:solidFill>
                <a:latin typeface="Trebuchet MS"/>
              </a:rPr>
              <a:t>Commandes : payées, à expédier, livrées</a:t>
            </a:r>
          </a:p>
          <a:p>
            <a:pPr>
              <a:lnSpc>
                <a:spcPct val="120000"/>
              </a:lnSpc>
              <a:spcAft>
                <a:spcPts val="1000"/>
              </a:spcAft>
            </a:pPr>
            <a:r>
              <a:rPr sz="1150" b="1" i="0">
                <a:solidFill>
                  <a:srgbClr val="E4306E"/>
                </a:solidFill>
                <a:latin typeface="Consolas"/>
              </a:rPr>
              <a:t>— </a:t>
            </a:r>
            <a:r>
              <a:rPr sz="1150" b="0" i="0">
                <a:solidFill>
                  <a:srgbClr val="F3E9EE"/>
                </a:solidFill>
                <a:latin typeface="Trebuchet MS"/>
              </a:rPr>
              <a:t>Ventes par direct, article, période</a:t>
            </a:r>
          </a:p>
          <a:p>
            <a:pPr>
              <a:lnSpc>
                <a:spcPct val="120000"/>
              </a:lnSpc>
              <a:spcAft>
                <a:spcPts val="1000"/>
              </a:spcAft>
            </a:pPr>
            <a:r>
              <a:rPr sz="1150" b="1" i="0">
                <a:solidFill>
                  <a:srgbClr val="E4306E"/>
                </a:solidFill>
                <a:latin typeface="Consolas"/>
              </a:rPr>
              <a:t>— </a:t>
            </a:r>
            <a:r>
              <a:rPr sz="1150" b="0" i="0">
                <a:solidFill>
                  <a:srgbClr val="F3E9EE"/>
                </a:solidFill>
                <a:latin typeface="Trebuchet MS"/>
              </a:rPr>
              <a:t>Ses abonnés et ses meilleurs clients</a:t>
            </a:r>
          </a:p>
        </p:txBody>
      </p:sp>
      <p:sp>
        <p:nvSpPr>
          <p:cNvPr id="13" name="Rectangle 12"/>
          <p:cNvSpPr/>
          <p:nvPr/>
        </p:nvSpPr>
        <p:spPr>
          <a:xfrm>
            <a:off x="4429658" y="2057400"/>
            <a:ext cx="3332378" cy="324612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p:txBody>
      </p:sp>
      <p:sp>
        <p:nvSpPr>
          <p:cNvPr id="14" name="Rectangle 13"/>
          <p:cNvSpPr/>
          <p:nvPr/>
        </p:nvSpPr>
        <p:spPr>
          <a:xfrm>
            <a:off x="4429658" y="2057400"/>
            <a:ext cx="3332378" cy="4572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5" name="TextBox 14"/>
          <p:cNvSpPr txBox="1"/>
          <p:nvPr/>
        </p:nvSpPr>
        <p:spPr>
          <a:xfrm>
            <a:off x="4667402" y="2359152"/>
            <a:ext cx="2856890" cy="457200"/>
          </a:xfrm>
          <a:prstGeom prst="rect">
            <a:avLst/>
          </a:prstGeom>
          <a:noFill/>
        </p:spPr>
        <p:txBody>
          <a:bodyPr wrap="square" anchor="t" lIns="0" rIns="0" tIns="0" bIns="0"/>
          <a:lstStyle/>
          <a:p>
            <a:r>
              <a:rPr sz="1000" b="1" i="0" spc="120">
                <a:solidFill>
                  <a:srgbClr val="2FBF9B"/>
                </a:solidFill>
                <a:latin typeface="Consolas"/>
              </a:rPr>
              <a:t>ACHETEUSE — SA BOUTIQUE</a:t>
            </a:r>
          </a:p>
        </p:txBody>
      </p:sp>
      <p:sp>
        <p:nvSpPr>
          <p:cNvPr id="16" name="TextBox 15"/>
          <p:cNvSpPr txBox="1"/>
          <p:nvPr/>
        </p:nvSpPr>
        <p:spPr>
          <a:xfrm>
            <a:off x="4667402" y="2907792"/>
            <a:ext cx="2856890" cy="2286000"/>
          </a:xfrm>
          <a:prstGeom prst="rect">
            <a:avLst/>
          </a:prstGeom>
          <a:noFill/>
        </p:spPr>
        <p:txBody>
          <a:bodyPr wrap="square" anchor="t" lIns="0" rIns="0" tIns="0" bIns="0"/>
          <a:lstStyle/>
          <a:p>
            <a:pPr>
              <a:lnSpc>
                <a:spcPct val="120000"/>
              </a:lnSpc>
              <a:spcAft>
                <a:spcPts val="1000"/>
              </a:spcAft>
            </a:pPr>
            <a:r>
              <a:rPr sz="1150" b="1" i="0">
                <a:solidFill>
                  <a:srgbClr val="2FBF9B"/>
                </a:solidFill>
                <a:latin typeface="Consolas"/>
              </a:rPr>
              <a:t>— </a:t>
            </a:r>
            <a:r>
              <a:rPr sz="1150" b="0" i="0">
                <a:solidFill>
                  <a:srgbClr val="F3E9EE"/>
                </a:solidFill>
                <a:latin typeface="Trebuchet MS"/>
              </a:rPr>
              <a:t>Le fil des directs et des vidéos</a:t>
            </a:r>
          </a:p>
          <a:p>
            <a:pPr>
              <a:lnSpc>
                <a:spcPct val="120000"/>
              </a:lnSpc>
              <a:spcAft>
                <a:spcPts val="1000"/>
              </a:spcAft>
            </a:pPr>
            <a:r>
              <a:rPr sz="1150" b="1" i="0">
                <a:solidFill>
                  <a:srgbClr val="2FBF9B"/>
                </a:solidFill>
                <a:latin typeface="Consolas"/>
              </a:rPr>
              <a:t>— </a:t>
            </a:r>
            <a:r>
              <a:rPr sz="1150" b="0" i="0">
                <a:solidFill>
                  <a:srgbClr val="F3E9EE"/>
                </a:solidFill>
                <a:latin typeface="Trebuchet MS"/>
              </a:rPr>
              <a:t>Le bouton « Je prends »</a:t>
            </a:r>
          </a:p>
          <a:p>
            <a:pPr>
              <a:lnSpc>
                <a:spcPct val="120000"/>
              </a:lnSpc>
              <a:spcAft>
                <a:spcPts val="1000"/>
              </a:spcAft>
            </a:pPr>
            <a:r>
              <a:rPr sz="1150" b="1" i="0">
                <a:solidFill>
                  <a:srgbClr val="2FBF9B"/>
                </a:solidFill>
                <a:latin typeface="Consolas"/>
              </a:rPr>
              <a:t>— </a:t>
            </a:r>
            <a:r>
              <a:rPr sz="1150" b="0" i="0">
                <a:solidFill>
                  <a:srgbClr val="F3E9EE"/>
                </a:solidFill>
                <a:latin typeface="Trebuchet MS"/>
              </a:rPr>
              <a:t>Le panier multi-vendeurs</a:t>
            </a:r>
          </a:p>
          <a:p>
            <a:pPr>
              <a:lnSpc>
                <a:spcPct val="120000"/>
              </a:lnSpc>
              <a:spcAft>
                <a:spcPts val="1000"/>
              </a:spcAft>
            </a:pPr>
            <a:r>
              <a:rPr sz="1150" b="1" i="0">
                <a:solidFill>
                  <a:srgbClr val="2FBF9B"/>
                </a:solidFill>
                <a:latin typeface="Consolas"/>
              </a:rPr>
              <a:t>— </a:t>
            </a:r>
            <a:r>
              <a:rPr sz="1150" b="0" i="0">
                <a:solidFill>
                  <a:srgbClr val="F3E9EE"/>
                </a:solidFill>
                <a:latin typeface="Trebuchet MS"/>
              </a:rPr>
              <a:t>Ses commandes et le suivi de livraison</a:t>
            </a:r>
          </a:p>
          <a:p>
            <a:pPr>
              <a:lnSpc>
                <a:spcPct val="120000"/>
              </a:lnSpc>
              <a:spcAft>
                <a:spcPts val="1000"/>
              </a:spcAft>
            </a:pPr>
            <a:r>
              <a:rPr sz="1150" b="1" i="0">
                <a:solidFill>
                  <a:srgbClr val="2FBF9B"/>
                </a:solidFill>
                <a:latin typeface="Consolas"/>
              </a:rPr>
              <a:t>— </a:t>
            </a:r>
            <a:r>
              <a:rPr sz="1150" b="0" i="0">
                <a:solidFill>
                  <a:srgbClr val="F3E9EE"/>
                </a:solidFill>
                <a:latin typeface="Trebuchet MS"/>
              </a:rPr>
              <a:t>Domicile ou point relais, factures, fidélité</a:t>
            </a:r>
          </a:p>
        </p:txBody>
      </p:sp>
      <p:sp>
        <p:nvSpPr>
          <p:cNvPr id="17" name="Rectangle 16"/>
          <p:cNvSpPr/>
          <p:nvPr/>
        </p:nvSpPr>
        <p:spPr>
          <a:xfrm>
            <a:off x="8082076" y="2057400"/>
            <a:ext cx="3332378" cy="324612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p:txBody>
      </p:sp>
      <p:sp>
        <p:nvSpPr>
          <p:cNvPr id="18" name="Rectangle 17"/>
          <p:cNvSpPr/>
          <p:nvPr/>
        </p:nvSpPr>
        <p:spPr>
          <a:xfrm>
            <a:off x="8082076" y="2057400"/>
            <a:ext cx="3332378"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9" name="TextBox 18"/>
          <p:cNvSpPr txBox="1"/>
          <p:nvPr/>
        </p:nvSpPr>
        <p:spPr>
          <a:xfrm>
            <a:off x="8319820" y="2359152"/>
            <a:ext cx="2856890" cy="457200"/>
          </a:xfrm>
          <a:prstGeom prst="rect">
            <a:avLst/>
          </a:prstGeom>
          <a:noFill/>
        </p:spPr>
        <p:txBody>
          <a:bodyPr wrap="square" anchor="t" lIns="0" rIns="0" tIns="0" bIns="0"/>
          <a:lstStyle/>
          <a:p>
            <a:r>
              <a:rPr sz="1000" b="1" i="0" spc="120">
                <a:solidFill>
                  <a:srgbClr val="E8B04B"/>
                </a:solidFill>
                <a:latin typeface="Consolas"/>
              </a:rPr>
              <a:t>CRÉATRICE — SON STUDIO À ELLE</a:t>
            </a:r>
          </a:p>
        </p:txBody>
      </p:sp>
      <p:sp>
        <p:nvSpPr>
          <p:cNvPr id="20" name="TextBox 19"/>
          <p:cNvSpPr txBox="1"/>
          <p:nvPr/>
        </p:nvSpPr>
        <p:spPr>
          <a:xfrm>
            <a:off x="8319820" y="2907792"/>
            <a:ext cx="2856890" cy="2286000"/>
          </a:xfrm>
          <a:prstGeom prst="rect">
            <a:avLst/>
          </a:prstGeom>
          <a:noFill/>
        </p:spPr>
        <p:txBody>
          <a:bodyPr wrap="square" anchor="t" lIns="0" rIns="0" tIns="0" bIns="0"/>
          <a:lstStyle/>
          <a:p>
            <a:pPr>
              <a:lnSpc>
                <a:spcPct val="120000"/>
              </a:lnSpc>
              <a:spcAft>
                <a:spcPts val="1000"/>
              </a:spcAft>
            </a:pPr>
            <a:r>
              <a:rPr sz="1150" b="1" i="0">
                <a:solidFill>
                  <a:srgbClr val="E8B04B"/>
                </a:solidFill>
                <a:latin typeface="Consolas"/>
              </a:rPr>
              <a:t>— </a:t>
            </a:r>
            <a:r>
              <a:rPr sz="1150" b="0" i="0">
                <a:solidFill>
                  <a:srgbClr val="F3E9EE"/>
                </a:solidFill>
                <a:latin typeface="Trebuchet MS"/>
              </a:rPr>
              <a:t>Publier stories et vidéos</a:t>
            </a:r>
          </a:p>
          <a:p>
            <a:pPr>
              <a:lnSpc>
                <a:spcPct val="120000"/>
              </a:lnSpc>
              <a:spcAft>
                <a:spcPts val="1000"/>
              </a:spcAft>
            </a:pPr>
            <a:r>
              <a:rPr sz="1150" b="1" i="0">
                <a:solidFill>
                  <a:srgbClr val="E8B04B"/>
                </a:solidFill>
                <a:latin typeface="Consolas"/>
              </a:rPr>
              <a:t>— </a:t>
            </a:r>
            <a:r>
              <a:rPr sz="1150" b="0" i="0">
                <a:solidFill>
                  <a:srgbClr val="F3E9EE"/>
                </a:solidFill>
                <a:latin typeface="Trebuchet MS"/>
              </a:rPr>
              <a:t>Sa sélection chez plusieurs vendeurs</a:t>
            </a:r>
          </a:p>
          <a:p>
            <a:pPr>
              <a:lnSpc>
                <a:spcPct val="120000"/>
              </a:lnSpc>
              <a:spcAft>
                <a:spcPts val="1000"/>
              </a:spcAft>
            </a:pPr>
            <a:r>
              <a:rPr sz="1150" b="1" i="0">
                <a:solidFill>
                  <a:srgbClr val="E8B04B"/>
                </a:solidFill>
                <a:latin typeface="Consolas"/>
              </a:rPr>
              <a:t>— </a:t>
            </a:r>
            <a:r>
              <a:rPr sz="1150" b="0" i="0">
                <a:solidFill>
                  <a:srgbClr val="F3E9EE"/>
                </a:solidFill>
                <a:latin typeface="Trebuchet MS"/>
              </a:rPr>
              <a:t>Ses précommandes et leurs seuils</a:t>
            </a:r>
          </a:p>
          <a:p>
            <a:pPr>
              <a:lnSpc>
                <a:spcPct val="120000"/>
              </a:lnSpc>
              <a:spcAft>
                <a:spcPts val="1000"/>
              </a:spcAft>
            </a:pPr>
            <a:r>
              <a:rPr sz="1150" b="1" i="0">
                <a:solidFill>
                  <a:srgbClr val="E8B04B"/>
                </a:solidFill>
                <a:latin typeface="Consolas"/>
              </a:rPr>
              <a:t>— </a:t>
            </a:r>
            <a:r>
              <a:rPr sz="1150" b="0" i="0">
                <a:solidFill>
                  <a:srgbClr val="F3E9EE"/>
                </a:solidFill>
                <a:latin typeface="Trebuchet MS"/>
              </a:rPr>
              <a:t>Des vues jusqu'aux gains</a:t>
            </a:r>
          </a:p>
          <a:p>
            <a:pPr>
              <a:lnSpc>
                <a:spcPct val="120000"/>
              </a:lnSpc>
              <a:spcAft>
                <a:spcPts val="1000"/>
              </a:spcAft>
            </a:pPr>
            <a:r>
              <a:rPr sz="1150" b="1" i="0">
                <a:solidFill>
                  <a:srgbClr val="E8B04B"/>
                </a:solidFill>
                <a:latin typeface="Consolas"/>
              </a:rPr>
              <a:t>— </a:t>
            </a:r>
            <a:r>
              <a:rPr sz="1150" b="0" i="0">
                <a:solidFill>
                  <a:srgbClr val="F3E9EE"/>
                </a:solidFill>
                <a:latin typeface="Trebuchet MS"/>
              </a:rPr>
              <a:t>Ses partenariats de marque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8290352"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17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200" b="1" i="0" spc="-60">
                <a:solidFill>
                  <a:srgbClr val="F3E9EE"/>
                </a:solidFill>
                <a:latin typeface="Georgia"/>
              </a:rPr>
              <a:t>À domicile, ou en point de retrait.</a:t>
            </a:r>
          </a:p>
        </p:txBody>
      </p:sp>
      <p:sp>
        <p:nvSpPr>
          <p:cNvPr id="9" name="TextBox 8"/>
          <p:cNvSpPr txBox="1"/>
          <p:nvPr/>
        </p:nvSpPr>
        <p:spPr>
          <a:xfrm>
            <a:off x="777240" y="1874519"/>
            <a:ext cx="10637215" cy="457200"/>
          </a:xfrm>
          <a:prstGeom prst="rect">
            <a:avLst/>
          </a:prstGeom>
          <a:noFill/>
        </p:spPr>
        <p:txBody>
          <a:bodyPr wrap="square" anchor="t" lIns="0" rIns="0" tIns="0" bIns="0"/>
          <a:lstStyle/>
          <a:p>
            <a:pPr>
              <a:lnSpc>
                <a:spcPct val="130000"/>
              </a:lnSpc>
            </a:pPr>
            <a:r>
              <a:rPr sz="1500" b="0" i="0">
                <a:solidFill>
                  <a:srgbClr val="A99AA4"/>
                </a:solidFill>
                <a:latin typeface="Trebuchet MS"/>
              </a:rPr>
              <a:t>Au moment de commander, l'acheteur choisit.</a:t>
            </a:r>
          </a:p>
        </p:txBody>
      </p:sp>
      <p:sp>
        <p:nvSpPr>
          <p:cNvPr id="10" name="Rectangle 9"/>
          <p:cNvSpPr/>
          <p:nvPr/>
        </p:nvSpPr>
        <p:spPr>
          <a:xfrm>
            <a:off x="777240" y="2377440"/>
            <a:ext cx="5090007" cy="137160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09728" bIns="109728"/>
          <a:lstStyle/>
          <a:p>
            <a:pPr algn="l">
              <a:lnSpc>
                <a:spcPct val="125000"/>
              </a:lnSpc>
            </a:pPr>
            <a:r>
              <a:rPr sz="1500" b="1" i="0">
                <a:solidFill>
                  <a:srgbClr val="E4306E"/>
                </a:solidFill>
                <a:latin typeface="Trebuchet MS"/>
              </a:rPr>
              <a:t>Livraison à domicile
</a:t>
            </a:r>
            <a:r>
              <a:rPr sz="1250" b="0" i="0">
                <a:solidFill>
                  <a:srgbClr val="A99AA4"/>
                </a:solidFill>
                <a:latin typeface="Trebuchet MS"/>
              </a:rPr>
              <a:t>L'adresse est enregistrée une fois, réutilisée ensuite. Suivi visible des deux côtés, du départ à la remise.</a:t>
            </a:r>
          </a:p>
        </p:txBody>
      </p:sp>
      <p:sp>
        <p:nvSpPr>
          <p:cNvPr id="11" name="Rectangle 10"/>
          <p:cNvSpPr/>
          <p:nvPr/>
        </p:nvSpPr>
        <p:spPr>
          <a:xfrm>
            <a:off x="777240" y="2377440"/>
            <a:ext cx="50292" cy="137160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2" name="Rectangle 11"/>
          <p:cNvSpPr/>
          <p:nvPr/>
        </p:nvSpPr>
        <p:spPr>
          <a:xfrm>
            <a:off x="6324447" y="2377440"/>
            <a:ext cx="5090007" cy="137160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09728" bIns="109728"/>
          <a:lstStyle/>
          <a:p>
            <a:pPr algn="l">
              <a:lnSpc>
                <a:spcPct val="125000"/>
              </a:lnSpc>
            </a:pPr>
            <a:r>
              <a:rPr sz="1500" b="1" i="0">
                <a:solidFill>
                  <a:srgbClr val="2FBF9B"/>
                </a:solidFill>
                <a:latin typeface="Trebuchet MS"/>
              </a:rPr>
              <a:t>Retrait en point relais
</a:t>
            </a:r>
            <a:r>
              <a:rPr sz="1250" b="0" i="0">
                <a:solidFill>
                  <a:srgbClr val="A99AA4"/>
                </a:solidFill>
                <a:latin typeface="Trebuchet MS"/>
              </a:rPr>
              <a:t>L'acheteur récupère quand il veut, près de chez lui ou de son travail. Moins cher, pas de rendez-vous à tenir, pas de livreur à attendre.</a:t>
            </a:r>
          </a:p>
        </p:txBody>
      </p:sp>
      <p:sp>
        <p:nvSpPr>
          <p:cNvPr id="13" name="Rectangle 12"/>
          <p:cNvSpPr/>
          <p:nvPr/>
        </p:nvSpPr>
        <p:spPr>
          <a:xfrm>
            <a:off x="6324447" y="2377440"/>
            <a:ext cx="50292" cy="137160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4" name="TextBox 13"/>
          <p:cNvSpPr txBox="1"/>
          <p:nvPr/>
        </p:nvSpPr>
        <p:spPr>
          <a:xfrm>
            <a:off x="777240" y="4023360"/>
            <a:ext cx="10637215" cy="292608"/>
          </a:xfrm>
          <a:prstGeom prst="rect">
            <a:avLst/>
          </a:prstGeom>
          <a:noFill/>
        </p:spPr>
        <p:txBody>
          <a:bodyPr wrap="square" anchor="t" lIns="0" rIns="0" tIns="0" bIns="0"/>
          <a:lstStyle/>
          <a:p>
            <a:r>
              <a:rPr sz="1050" b="1" i="0" spc="140">
                <a:solidFill>
                  <a:srgbClr val="A99AA4"/>
                </a:solidFill>
                <a:latin typeface="Consolas"/>
              </a:rPr>
              <a:t>POURQUOI LES DEUX COMPTENT</a:t>
            </a:r>
          </a:p>
        </p:txBody>
      </p:sp>
      <p:sp>
        <p:nvSpPr>
          <p:cNvPr id="15" name="Rectangle 14"/>
          <p:cNvSpPr/>
          <p:nvPr/>
        </p:nvSpPr>
        <p:spPr>
          <a:xfrm>
            <a:off x="777240" y="4334256"/>
            <a:ext cx="10637215" cy="9525"/>
          </a:xfrm>
          <a:prstGeom prst="rect">
            <a:avLst/>
          </a:prstGeom>
          <a:solidFill>
            <a:srgbClr val="A99AA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6" name="TextBox 15"/>
          <p:cNvSpPr txBox="1"/>
          <p:nvPr/>
        </p:nvSpPr>
        <p:spPr>
          <a:xfrm>
            <a:off x="777240" y="4526280"/>
            <a:ext cx="10637215" cy="1691640"/>
          </a:xfrm>
          <a:prstGeom prst="rect">
            <a:avLst/>
          </a:prstGeom>
          <a:noFill/>
        </p:spPr>
        <p:txBody>
          <a:bodyPr wrap="square" anchor="t" lIns="0" rIns="0" tIns="0" bIns="0"/>
          <a:lstStyle/>
          <a:p>
            <a:pPr>
              <a:lnSpc>
                <a:spcPct val="122000"/>
              </a:lnSpc>
              <a:spcAft>
                <a:spcPts val="700"/>
              </a:spcAft>
            </a:pPr>
            <a:r>
              <a:rPr sz="1250" b="1" i="0">
                <a:solidFill>
                  <a:srgbClr val="E4306E"/>
                </a:solidFill>
                <a:latin typeface="Consolas"/>
              </a:rPr>
              <a:t>— </a:t>
            </a:r>
            <a:r>
              <a:rPr sz="1250" b="1" i="0">
                <a:solidFill>
                  <a:srgbClr val="F3E9EE"/>
                </a:solidFill>
                <a:latin typeface="Trebuchet MS"/>
              </a:rPr>
              <a:t>Il rend l'adresse facultative</a:t>
            </a:r>
            <a:r>
              <a:rPr sz="1250" b="0" i="0">
                <a:solidFill>
                  <a:srgbClr val="F3E9EE"/>
                </a:solidFill>
                <a:latin typeface="Trebuchet MS"/>
              </a:rPr>
              <a:t> : celle qui hésite à donner son domicile à un inconnu commande quand même.</a:t>
            </a:r>
          </a:p>
          <a:p>
            <a:pPr>
              <a:lnSpc>
                <a:spcPct val="122000"/>
              </a:lnSpc>
              <a:spcAft>
                <a:spcPts val="700"/>
              </a:spcAft>
            </a:pPr>
            <a:r>
              <a:rPr sz="1250" b="1" i="0">
                <a:solidFill>
                  <a:srgbClr val="E4306E"/>
                </a:solidFill>
                <a:latin typeface="Consolas"/>
              </a:rPr>
              <a:t>— </a:t>
            </a:r>
            <a:r>
              <a:rPr sz="1250" b="0" i="0">
                <a:solidFill>
                  <a:srgbClr val="F3E9EE"/>
                </a:solidFill>
                <a:latin typeface="Trebuchet MS"/>
              </a:rPr>
              <a:t>Le point de retrait fait baisser le coût de livraison — le premier frein sur les petits paniers.</a:t>
            </a:r>
          </a:p>
          <a:p>
            <a:pPr>
              <a:lnSpc>
                <a:spcPct val="122000"/>
              </a:lnSpc>
              <a:spcAft>
                <a:spcPts val="700"/>
              </a:spcAft>
            </a:pPr>
            <a:r>
              <a:rPr sz="1250" b="1" i="0">
                <a:solidFill>
                  <a:srgbClr val="E4306E"/>
                </a:solidFill>
                <a:latin typeface="Consolas"/>
              </a:rPr>
              <a:t>— </a:t>
            </a:r>
            <a:r>
              <a:rPr sz="1250" b="0" i="0">
                <a:solidFill>
                  <a:srgbClr val="F3E9EE"/>
                </a:solidFill>
                <a:latin typeface="Trebuchet MS"/>
              </a:rPr>
              <a:t>Il supprime l'échec de livraison quand personne n'est là.</a:t>
            </a:r>
          </a:p>
          <a:p>
            <a:pPr>
              <a:lnSpc>
                <a:spcPct val="122000"/>
              </a:lnSpc>
              <a:spcAft>
                <a:spcPts val="700"/>
              </a:spcAft>
            </a:pPr>
            <a:r>
              <a:rPr sz="1250" b="1" i="0">
                <a:solidFill>
                  <a:srgbClr val="E4306E"/>
                </a:solidFill>
                <a:latin typeface="Consolas"/>
              </a:rPr>
              <a:t>— </a:t>
            </a:r>
            <a:r>
              <a:rPr sz="1250" b="0" i="0">
                <a:solidFill>
                  <a:srgbClr val="F3E9EE"/>
                </a:solidFill>
                <a:latin typeface="Trebuchet MS"/>
              </a:rPr>
              <a:t>Le vendeur dépose plusieurs commandes en un seul trajet.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8778020"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18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325880"/>
          </a:xfrm>
          <a:prstGeom prst="rect">
            <a:avLst/>
          </a:prstGeom>
          <a:noFill/>
        </p:spPr>
        <p:txBody>
          <a:bodyPr wrap="square" anchor="t" lIns="0" rIns="0" tIns="0" bIns="0"/>
          <a:lstStyle/>
          <a:p>
            <a:pPr>
              <a:lnSpc>
                <a:spcPct val="102000"/>
              </a:lnSpc>
            </a:pPr>
            <a:r>
              <a:rPr sz="3600" b="1" i="0" spc="-60">
                <a:solidFill>
                  <a:srgbClr val="F3E9EE"/>
                </a:solidFill>
                <a:latin typeface="Georgia"/>
              </a:rPr>
              <a:t>Le vendeur ne subit plus son audience.
Il la cultive.</a:t>
            </a:r>
          </a:p>
        </p:txBody>
      </p:sp>
      <p:sp>
        <p:nvSpPr>
          <p:cNvPr id="9" name="TextBox 8"/>
          <p:cNvSpPr txBox="1"/>
          <p:nvPr/>
        </p:nvSpPr>
        <p:spPr>
          <a:xfrm>
            <a:off x="777240" y="2377440"/>
            <a:ext cx="10637215" cy="3840480"/>
          </a:xfrm>
          <a:prstGeom prst="rect">
            <a:avLst/>
          </a:prstGeom>
          <a:noFill/>
        </p:spPr>
        <p:txBody>
          <a:bodyPr wrap="square" anchor="t" lIns="0" rIns="0" tIns="0" bIns="0"/>
          <a:lstStyle/>
          <a:p>
            <a:pPr>
              <a:lnSpc>
                <a:spcPct val="122000"/>
              </a:lnSpc>
              <a:spcAft>
                <a:spcPts val="1300"/>
              </a:spcAft>
            </a:pPr>
            <a:r>
              <a:rPr sz="1400" b="1" i="0">
                <a:solidFill>
                  <a:srgbClr val="E4306E"/>
                </a:solidFill>
                <a:latin typeface="Consolas"/>
              </a:rPr>
              <a:t>— </a:t>
            </a:r>
            <a:r>
              <a:rPr sz="1400" b="1" i="0">
                <a:solidFill>
                  <a:srgbClr val="F3E9EE"/>
                </a:solidFill>
                <a:latin typeface="Trebuchet MS"/>
              </a:rPr>
              <a:t>Des abonnés, pas des spectateurs.</a:t>
            </a:r>
            <a:r>
              <a:rPr sz="1400" b="0" i="0">
                <a:solidFill>
                  <a:srgbClr val="F3E9EE"/>
                </a:solidFill>
                <a:latin typeface="Trebuchet MS"/>
              </a:rPr>
              <a:t> On suit un vendeur comme on suit un créateur.</a:t>
            </a:r>
          </a:p>
          <a:p>
            <a:pPr>
              <a:lnSpc>
                <a:spcPct val="122000"/>
              </a:lnSpc>
              <a:spcAft>
                <a:spcPts val="1300"/>
              </a:spcAft>
            </a:pPr>
            <a:r>
              <a:rPr sz="1400" b="1" i="0">
                <a:solidFill>
                  <a:srgbClr val="E4306E"/>
                </a:solidFill>
                <a:latin typeface="Consolas"/>
              </a:rPr>
              <a:t>— </a:t>
            </a:r>
            <a:r>
              <a:rPr sz="1400" b="1" i="0">
                <a:solidFill>
                  <a:srgbClr val="F3E9EE"/>
                </a:solidFill>
                <a:latin typeface="Trebuchet MS"/>
              </a:rPr>
              <a:t>Notification au bon moment.</a:t>
            </a:r>
            <a:r>
              <a:rPr sz="1400" b="0" i="0">
                <a:solidFill>
                  <a:srgbClr val="F3E9EE"/>
                </a:solidFill>
                <a:latin typeface="Trebuchet MS"/>
              </a:rPr>
              <a:t> Quand il passe en direct, quand il lance une promotion, quand une pièce attendue revient en stock.</a:t>
            </a:r>
          </a:p>
          <a:p>
            <a:pPr>
              <a:lnSpc>
                <a:spcPct val="122000"/>
              </a:lnSpc>
              <a:spcAft>
                <a:spcPts val="1300"/>
              </a:spcAft>
            </a:pPr>
            <a:r>
              <a:rPr sz="1400" b="1" i="0">
                <a:solidFill>
                  <a:srgbClr val="E4306E"/>
                </a:solidFill>
                <a:latin typeface="Consolas"/>
              </a:rPr>
              <a:t>— </a:t>
            </a:r>
            <a:r>
              <a:rPr sz="1400" b="1" i="0">
                <a:solidFill>
                  <a:srgbClr val="F3E9EE"/>
                </a:solidFill>
                <a:latin typeface="Trebuchet MS"/>
              </a:rPr>
              <a:t>Il connaît ses meilleurs clients.</a:t>
            </a:r>
            <a:r>
              <a:rPr sz="1400" b="0" i="0">
                <a:solidFill>
                  <a:srgbClr val="F3E9EE"/>
                </a:solidFill>
                <a:latin typeface="Trebuchet MS"/>
              </a:rPr>
              <a:t> Nombre d'achats, montant cumulé, ancienneté, régularité — classés.</a:t>
            </a:r>
          </a:p>
          <a:p>
            <a:pPr>
              <a:lnSpc>
                <a:spcPct val="122000"/>
              </a:lnSpc>
              <a:spcAft>
                <a:spcPts val="1300"/>
              </a:spcAft>
            </a:pPr>
            <a:r>
              <a:rPr sz="1400" b="1" i="0">
                <a:solidFill>
                  <a:srgbClr val="E4306E"/>
                </a:solidFill>
                <a:latin typeface="Consolas"/>
              </a:rPr>
              <a:t>— </a:t>
            </a:r>
            <a:r>
              <a:rPr sz="1400" b="1" i="0">
                <a:solidFill>
                  <a:srgbClr val="F3E9EE"/>
                </a:solidFill>
                <a:latin typeface="Trebuchet MS"/>
              </a:rPr>
              <a:t>Il récompense qui il veut.</a:t>
            </a:r>
            <a:r>
              <a:rPr sz="1400" b="0" i="0">
                <a:solidFill>
                  <a:srgbClr val="F3E9EE"/>
                </a:solidFill>
                <a:latin typeface="Trebuchet MS"/>
              </a:rPr>
              <a:t> Une remise réservée à un palier de fidélité, un accès en avance à une collection, un cadeau pour ses ambassadeurs.</a:t>
            </a:r>
          </a:p>
          <a:p>
            <a:pPr>
              <a:lnSpc>
                <a:spcPct val="122000"/>
              </a:lnSpc>
              <a:spcAft>
                <a:spcPts val="1300"/>
              </a:spcAft>
            </a:pPr>
            <a:r>
              <a:rPr sz="1400" b="1" i="0">
                <a:solidFill>
                  <a:srgbClr val="E4306E"/>
                </a:solidFill>
                <a:latin typeface="Consolas"/>
              </a:rPr>
              <a:t>— </a:t>
            </a:r>
            <a:r>
              <a:rPr sz="1400" b="1" i="0">
                <a:solidFill>
                  <a:srgbClr val="F3E9EE"/>
                </a:solidFill>
                <a:latin typeface="Trebuchet MS"/>
              </a:rPr>
              <a:t>Le rendez-vous plutôt que la notification.</a:t>
            </a:r>
            <a:r>
              <a:rPr sz="1400" b="0" i="0">
                <a:solidFill>
                  <a:srgbClr val="F3E9EE"/>
                </a:solidFill>
                <a:latin typeface="Trebuchet MS"/>
              </a:rPr>
              <a:t> « Tous les vendredis à 18 h » vaut mieux qu'une alerte de plus.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9265688"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19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731520"/>
            <a:ext cx="10637215" cy="822960"/>
          </a:xfrm>
          <a:prstGeom prst="rect">
            <a:avLst/>
          </a:prstGeom>
          <a:noFill/>
        </p:spPr>
        <p:txBody>
          <a:bodyPr wrap="square" anchor="t" lIns="0" rIns="0" tIns="0" bIns="0"/>
          <a:lstStyle/>
          <a:p>
            <a:pPr>
              <a:lnSpc>
                <a:spcPct val="102000"/>
              </a:lnSpc>
            </a:pPr>
            <a:r>
              <a:rPr sz="3800" b="1" i="0" spc="-60">
                <a:solidFill>
                  <a:srgbClr val="F3E9EE"/>
                </a:solidFill>
                <a:latin typeface="Georgia"/>
              </a:rPr>
              <a:t>Huit choses que personne ne fait ici.</a:t>
            </a:r>
          </a:p>
        </p:txBody>
      </p:sp>
      <p:sp>
        <p:nvSpPr>
          <p:cNvPr id="9" name="Rectangle 8"/>
          <p:cNvSpPr/>
          <p:nvPr/>
        </p:nvSpPr>
        <p:spPr>
          <a:xfrm>
            <a:off x="777240" y="1664208"/>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01  </a:t>
            </a:r>
            <a:r>
              <a:rPr sz="1300" b="1" i="0">
                <a:solidFill>
                  <a:srgbClr val="F3E9EE"/>
                </a:solidFill>
                <a:latin typeface="Trebuchet MS"/>
              </a:rPr>
              <a:t>Le bouton à la place du commentaire
</a:t>
            </a:r>
            <a:r>
              <a:rPr sz="1050" b="0" i="0">
                <a:solidFill>
                  <a:srgbClr val="A99AA4"/>
                </a:solidFill>
                <a:latin typeface="Trebuchet MS"/>
              </a:rPr>
              <a:t>Une action au lieu d'une négociation en message privé.</a:t>
            </a:r>
          </a:p>
        </p:txBody>
      </p:sp>
      <p:sp>
        <p:nvSpPr>
          <p:cNvPr id="10" name="Rectangle 9"/>
          <p:cNvSpPr/>
          <p:nvPr/>
        </p:nvSpPr>
        <p:spPr>
          <a:xfrm>
            <a:off x="777240" y="1664208"/>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Rectangle 10"/>
          <p:cNvSpPr/>
          <p:nvPr/>
        </p:nvSpPr>
        <p:spPr>
          <a:xfrm>
            <a:off x="6242151" y="1664208"/>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02  </a:t>
            </a:r>
            <a:r>
              <a:rPr sz="1300" b="1" i="0">
                <a:solidFill>
                  <a:srgbClr val="F3E9EE"/>
                </a:solidFill>
                <a:latin typeface="Trebuchet MS"/>
              </a:rPr>
              <a:t>L'argent tenu jusqu'à la réception
</a:t>
            </a:r>
            <a:r>
              <a:rPr sz="1050" b="0" i="0">
                <a:solidFill>
                  <a:srgbClr val="A99AA4"/>
                </a:solidFill>
                <a:latin typeface="Trebuchet MS"/>
              </a:rPr>
              <a:t>La protection est un mécanisme, pas une promesse.</a:t>
            </a:r>
          </a:p>
        </p:txBody>
      </p:sp>
      <p:sp>
        <p:nvSpPr>
          <p:cNvPr id="12" name="Rectangle 11"/>
          <p:cNvSpPr/>
          <p:nvPr/>
        </p:nvSpPr>
        <p:spPr>
          <a:xfrm>
            <a:off x="6242151" y="1664208"/>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3" name="Rectangle 12"/>
          <p:cNvSpPr/>
          <p:nvPr/>
        </p:nvSpPr>
        <p:spPr>
          <a:xfrm>
            <a:off x="777240" y="2816352"/>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03  </a:t>
            </a:r>
            <a:r>
              <a:rPr sz="1300" b="1" i="0">
                <a:solidFill>
                  <a:srgbClr val="F3E9EE"/>
                </a:solidFill>
                <a:latin typeface="Trebuchet MS"/>
              </a:rPr>
              <a:t>L'unboxing qui vaut preuve
</a:t>
            </a:r>
            <a:r>
              <a:rPr sz="1050" b="0" i="0">
                <a:solidFill>
                  <a:srgbClr val="A99AA4"/>
                </a:solidFill>
                <a:latin typeface="Trebuchet MS"/>
              </a:rPr>
              <a:t>Confirmation, avis vérifié et preuve publique. Un geste, cinq résultats.</a:t>
            </a:r>
          </a:p>
        </p:txBody>
      </p:sp>
      <p:sp>
        <p:nvSpPr>
          <p:cNvPr id="14" name="Rectangle 13"/>
          <p:cNvSpPr/>
          <p:nvPr/>
        </p:nvSpPr>
        <p:spPr>
          <a:xfrm>
            <a:off x="777240" y="2816352"/>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5" name="Rectangle 14"/>
          <p:cNvSpPr/>
          <p:nvPr/>
        </p:nvSpPr>
        <p:spPr>
          <a:xfrm>
            <a:off x="6242151" y="2816352"/>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04  </a:t>
            </a:r>
            <a:r>
              <a:rPr sz="1300" b="1" i="0">
                <a:solidFill>
                  <a:srgbClr val="F3E9EE"/>
                </a:solidFill>
                <a:latin typeface="Trebuchet MS"/>
              </a:rPr>
              <a:t>La créatrice sans capital
</a:t>
            </a:r>
            <a:r>
              <a:rPr sz="1050" b="0" i="0">
                <a:solidFill>
                  <a:srgbClr val="A99AA4"/>
                </a:solidFill>
                <a:latin typeface="Trebuchet MS"/>
              </a:rPr>
              <a:t>Affiliation et précommande groupée : vendre sans avancer d'argent.</a:t>
            </a:r>
          </a:p>
        </p:txBody>
      </p:sp>
      <p:sp>
        <p:nvSpPr>
          <p:cNvPr id="16" name="Rectangle 15"/>
          <p:cNvSpPr/>
          <p:nvPr/>
        </p:nvSpPr>
        <p:spPr>
          <a:xfrm>
            <a:off x="6242151" y="2816352"/>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7" name="Rectangle 16"/>
          <p:cNvSpPr/>
          <p:nvPr/>
        </p:nvSpPr>
        <p:spPr>
          <a:xfrm>
            <a:off x="777240" y="3968496"/>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05  </a:t>
            </a:r>
            <a:r>
              <a:rPr sz="1300" b="1" i="0">
                <a:solidFill>
                  <a:srgbClr val="F3E9EE"/>
                </a:solidFill>
                <a:latin typeface="Trebuchet MS"/>
              </a:rPr>
              <a:t>Le cadeau depuis l'étranger
</a:t>
            </a:r>
            <a:r>
              <a:rPr sz="1050" b="0" i="0">
                <a:solidFill>
                  <a:srgbClr val="A99AA4"/>
                </a:solidFill>
                <a:latin typeface="Trebuchet MS"/>
              </a:rPr>
              <a:t>Offrir un objet précis, vérifié et livré. Pas envoyer de l'argent.</a:t>
            </a:r>
          </a:p>
        </p:txBody>
      </p:sp>
      <p:sp>
        <p:nvSpPr>
          <p:cNvPr id="18" name="Rectangle 17"/>
          <p:cNvSpPr/>
          <p:nvPr/>
        </p:nvSpPr>
        <p:spPr>
          <a:xfrm>
            <a:off x="777240" y="3968496"/>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9" name="Rectangle 18"/>
          <p:cNvSpPr/>
          <p:nvPr/>
        </p:nvSpPr>
        <p:spPr>
          <a:xfrm>
            <a:off x="6242151" y="3968496"/>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06  </a:t>
            </a:r>
            <a:r>
              <a:rPr sz="1300" b="1" i="0">
                <a:solidFill>
                  <a:srgbClr val="F3E9EE"/>
                </a:solidFill>
                <a:latin typeface="Trebuchet MS"/>
              </a:rPr>
              <a:t>Le point de retrait sans adresse
</a:t>
            </a:r>
            <a:r>
              <a:rPr sz="1050" b="0" i="0">
                <a:solidFill>
                  <a:srgbClr val="A99AA4"/>
                </a:solidFill>
                <a:latin typeface="Trebuchet MS"/>
              </a:rPr>
              <a:t>Moins cher, sans rendez-vous. Ce qui rend le petit panier viable.</a:t>
            </a:r>
          </a:p>
        </p:txBody>
      </p:sp>
      <p:sp>
        <p:nvSpPr>
          <p:cNvPr id="20" name="Rectangle 19"/>
          <p:cNvSpPr/>
          <p:nvPr/>
        </p:nvSpPr>
        <p:spPr>
          <a:xfrm>
            <a:off x="6242151" y="3968496"/>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21" name="Rectangle 20"/>
          <p:cNvSpPr/>
          <p:nvPr/>
        </p:nvSpPr>
        <p:spPr>
          <a:xfrm>
            <a:off x="777240" y="5120640"/>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07  </a:t>
            </a:r>
            <a:r>
              <a:rPr sz="1300" b="1" i="0">
                <a:solidFill>
                  <a:srgbClr val="F3E9EE"/>
                </a:solidFill>
                <a:latin typeface="Trebuchet MS"/>
              </a:rPr>
              <a:t>Le replay qui vend  (phase 2)
</a:t>
            </a:r>
            <a:r>
              <a:rPr sz="1050" b="0" i="0">
                <a:solidFill>
                  <a:srgbClr val="A99AA4"/>
                </a:solidFill>
                <a:latin typeface="Trebuchet MS"/>
              </a:rPr>
              <a:t>Le direct terminé reste achetable, chaque article repéré à sa minute.</a:t>
            </a:r>
          </a:p>
        </p:txBody>
      </p:sp>
      <p:sp>
        <p:nvSpPr>
          <p:cNvPr id="22" name="Rectangle 21"/>
          <p:cNvSpPr/>
          <p:nvPr/>
        </p:nvSpPr>
        <p:spPr>
          <a:xfrm>
            <a:off x="777240" y="5120640"/>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23" name="Rectangle 22"/>
          <p:cNvSpPr/>
          <p:nvPr/>
        </p:nvSpPr>
        <p:spPr>
          <a:xfrm>
            <a:off x="6242151" y="5120640"/>
            <a:ext cx="5172303" cy="102412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64592" tIns="128016" bIns="109728"/>
          <a:lstStyle/>
          <a:p>
            <a:pPr algn="l">
              <a:lnSpc>
                <a:spcPct val="116000"/>
              </a:lnSpc>
            </a:pPr>
            <a:r>
              <a:rPr sz="1050" b="1" i="0" spc="80">
                <a:solidFill>
                  <a:srgbClr val="E4306E"/>
                </a:solidFill>
                <a:latin typeface="Consolas"/>
              </a:rPr>
              <a:t>08  </a:t>
            </a:r>
            <a:r>
              <a:rPr sz="1300" b="1" i="0">
                <a:solidFill>
                  <a:srgbClr val="F3E9EE"/>
                </a:solidFill>
                <a:latin typeface="Trebuchet MS"/>
              </a:rPr>
              <a:t>Bien à sa taille  (phase 2)
</a:t>
            </a:r>
            <a:r>
              <a:rPr sz="1050" b="0" i="0">
                <a:solidFill>
                  <a:srgbClr val="A99AA4"/>
                </a:solidFill>
                <a:latin typeface="Trebuchet MS"/>
              </a:rPr>
              <a:t>Guide par marque, avis de la même morphologie, vidéos portées.</a:t>
            </a:r>
          </a:p>
        </p:txBody>
      </p:sp>
      <p:sp>
        <p:nvSpPr>
          <p:cNvPr id="24" name="Rectangle 23"/>
          <p:cNvSpPr/>
          <p:nvPr/>
        </p:nvSpPr>
        <p:spPr>
          <a:xfrm>
            <a:off x="6242151" y="5120640"/>
            <a:ext cx="45720" cy="1024128"/>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9753356" cy="6858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E4306E"/>
                </a:solidFill>
                <a:latin typeface="Consolas"/>
              </a:rPr>
              <a:t>ACTE II · LA SOLUTION</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20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000" b="1" i="0" spc="-60">
                <a:solidFill>
                  <a:srgbClr val="F3E9EE"/>
                </a:solidFill>
                <a:latin typeface="Georgia"/>
              </a:rPr>
              <a:t>Un vertical, pas une marketplace de plus.</a:t>
            </a:r>
          </a:p>
        </p:txBody>
      </p:sp>
      <p:sp>
        <p:nvSpPr>
          <p:cNvPr id="9" name="TextBox 8"/>
          <p:cNvSpPr txBox="1"/>
          <p:nvPr/>
        </p:nvSpPr>
        <p:spPr>
          <a:xfrm>
            <a:off x="777240" y="2103120"/>
            <a:ext cx="10637215" cy="4114800"/>
          </a:xfrm>
          <a:prstGeom prst="rect">
            <a:avLst/>
          </a:prstGeom>
          <a:noFill/>
        </p:spPr>
        <p:txBody>
          <a:bodyPr wrap="square" anchor="t" lIns="0" rIns="0" tIns="0" bIns="0"/>
          <a:lstStyle/>
          <a:p>
            <a:pPr>
              <a:lnSpc>
                <a:spcPct val="122000"/>
              </a:lnSpc>
              <a:spcAft>
                <a:spcPts val="1500"/>
              </a:spcAft>
            </a:pPr>
            <a:r>
              <a:rPr sz="1350" b="1" i="0">
                <a:solidFill>
                  <a:srgbClr val="E4306E"/>
                </a:solidFill>
                <a:latin typeface="Consolas"/>
              </a:rPr>
              <a:t>— </a:t>
            </a:r>
            <a:r>
              <a:rPr sz="1350" b="1" i="0">
                <a:solidFill>
                  <a:srgbClr val="F3E9EE"/>
                </a:solidFill>
                <a:latin typeface="Trebuchet MS"/>
              </a:rPr>
              <a:t>L'achat est visuel et émotionnel.</a:t>
            </a:r>
            <a:r>
              <a:rPr sz="1350" b="0" i="0">
                <a:solidFill>
                  <a:srgbClr val="F3E9EE"/>
                </a:solidFill>
                <a:latin typeface="Trebuchet MS"/>
              </a:rPr>
              <a:t> Une matière, un tombé, une teinte sur une peau : cela se montre, cela ne se décrit pas. Le direct et la vidéo sont les formats naturels de ce produit.</a:t>
            </a:r>
          </a:p>
          <a:p>
            <a:pPr>
              <a:lnSpc>
                <a:spcPct val="122000"/>
              </a:lnSpc>
              <a:spcAft>
                <a:spcPts val="1500"/>
              </a:spcAft>
            </a:pPr>
            <a:r>
              <a:rPr sz="1350" b="1" i="0">
                <a:solidFill>
                  <a:srgbClr val="E4306E"/>
                </a:solidFill>
                <a:latin typeface="Consolas"/>
              </a:rPr>
              <a:t>— </a:t>
            </a:r>
            <a:r>
              <a:rPr sz="1350" b="1" i="0">
                <a:solidFill>
                  <a:srgbClr val="F3E9EE"/>
                </a:solidFill>
                <a:latin typeface="Trebuchet MS"/>
              </a:rPr>
              <a:t>Le panier se renouvelle.</a:t>
            </a:r>
            <a:r>
              <a:rPr sz="1350" b="0" i="0">
                <a:solidFill>
                  <a:srgbClr val="F3E9EE"/>
                </a:solidFill>
                <a:latin typeface="Trebuchet MS"/>
              </a:rPr>
              <a:t> On rachète une saison après l'autre. La fréquence est structurellement plus élevée que sur la plupart des catégories.</a:t>
            </a:r>
          </a:p>
          <a:p>
            <a:pPr>
              <a:lnSpc>
                <a:spcPct val="122000"/>
              </a:lnSpc>
              <a:spcAft>
                <a:spcPts val="1500"/>
              </a:spcAft>
            </a:pPr>
            <a:r>
              <a:rPr sz="1350" b="1" i="0">
                <a:solidFill>
                  <a:srgbClr val="E4306E"/>
                </a:solidFill>
                <a:latin typeface="Consolas"/>
              </a:rPr>
              <a:t>— </a:t>
            </a:r>
            <a:r>
              <a:rPr sz="1350" b="1" i="0">
                <a:solidFill>
                  <a:srgbClr val="F3E9EE"/>
                </a:solidFill>
                <a:latin typeface="Trebuchet MS"/>
              </a:rPr>
              <a:t>Le vertical permet ce qu'un généraliste ne fera jamais.</a:t>
            </a:r>
            <a:r>
              <a:rPr sz="1350" b="0" i="0">
                <a:solidFill>
                  <a:srgbClr val="F3E9EE"/>
                </a:solidFill>
                <a:latin typeface="Trebuchet MS"/>
              </a:rPr>
              <a:t> Tailles par marque, matières, teintes adaptées aux carnations, looks complets, retours pour cause de taille.</a:t>
            </a:r>
          </a:p>
          <a:p>
            <a:pPr>
              <a:lnSpc>
                <a:spcPct val="122000"/>
              </a:lnSpc>
              <a:spcAft>
                <a:spcPts val="1500"/>
              </a:spcAft>
            </a:pPr>
            <a:r>
              <a:rPr sz="1350" b="1" i="0">
                <a:solidFill>
                  <a:srgbClr val="E4306E"/>
                </a:solidFill>
                <a:latin typeface="Consolas"/>
              </a:rPr>
              <a:t>— </a:t>
            </a:r>
            <a:r>
              <a:rPr sz="1350" b="1" i="0">
                <a:solidFill>
                  <a:srgbClr val="F3E9EE"/>
                </a:solidFill>
                <a:latin typeface="Trebuchet MS"/>
              </a:rPr>
              <a:t>Les vendeurs sont déjà là.</a:t>
            </a:r>
            <a:r>
              <a:rPr sz="1350" b="0" i="0">
                <a:solidFill>
                  <a:srgbClr val="F3E9EE"/>
                </a:solidFill>
                <a:latin typeface="Trebuchet MS"/>
              </a:rPr>
              <a:t> Le vestimentaire domine déjà la vente en direct. Nous n'avons pas à déplacer un usage, seulement à l'équiper.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0241023" cy="6858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2FBF9B"/>
                </a:solidFill>
                <a:latin typeface="Consolas"/>
              </a:rPr>
              <a:t>ACTE III · LE MODÈLE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21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731520"/>
            <a:ext cx="10637215" cy="777240"/>
          </a:xfrm>
          <a:prstGeom prst="rect">
            <a:avLst/>
          </a:prstGeom>
          <a:noFill/>
        </p:spPr>
        <p:txBody>
          <a:bodyPr wrap="square" anchor="t" lIns="0" rIns="0" tIns="0" bIns="0"/>
          <a:lstStyle/>
          <a:p>
            <a:pPr>
              <a:lnSpc>
                <a:spcPct val="102000"/>
              </a:lnSpc>
            </a:pPr>
            <a:r>
              <a:rPr sz="3800" b="1" i="0" spc="-60">
                <a:solidFill>
                  <a:srgbClr val="F3E9EE"/>
                </a:solidFill>
                <a:latin typeface="Georgia"/>
              </a:rPr>
              <a:t>Nous gagnons quand le vendeur vend.</a:t>
            </a:r>
          </a:p>
        </p:txBody>
      </p:sp>
      <p:sp>
        <p:nvSpPr>
          <p:cNvPr id="9" name="TextBox 8"/>
          <p:cNvSpPr txBox="1"/>
          <p:nvPr/>
        </p:nvSpPr>
        <p:spPr>
          <a:xfrm>
            <a:off x="777240" y="1627632"/>
            <a:ext cx="10637215" cy="4590288"/>
          </a:xfrm>
          <a:prstGeom prst="rect">
            <a:avLst/>
          </a:prstGeom>
          <a:noFill/>
        </p:spPr>
        <p:txBody>
          <a:bodyPr wrap="square" anchor="t" lIns="0" rIns="0" tIns="0" bIns="0"/>
          <a:lstStyle/>
          <a:p>
            <a:pPr>
              <a:lnSpc>
                <a:spcPct val="122000"/>
              </a:lnSpc>
              <a:spcAft>
                <a:spcPts val="700"/>
              </a:spcAft>
            </a:pPr>
            <a:r>
              <a:rPr sz="1350" b="1" i="0" spc="60">
                <a:solidFill>
                  <a:srgbClr val="2FBF9B"/>
                </a:solidFill>
                <a:latin typeface="Consolas"/>
              </a:rPr>
              <a:t>1 </a:t>
            </a:r>
            <a:r>
              <a:rPr sz="1250" b="1" i="0">
                <a:solidFill>
                  <a:srgbClr val="F3E9EE"/>
                </a:solidFill>
                <a:latin typeface="Trebuchet MS"/>
              </a:rPr>
              <a:t>Commission sur chaque vente</a:t>
            </a:r>
            <a:r>
              <a:rPr sz="1250" b="0" i="0">
                <a:solidFill>
                  <a:srgbClr val="F3E9EE"/>
                </a:solidFill>
                <a:latin typeface="Trebuchet MS"/>
              </a:rPr>
              <a:t> — le cœur du modèle. Prélevée au paiement.</a:t>
            </a:r>
          </a:p>
          <a:p>
            <a:pPr>
              <a:lnSpc>
                <a:spcPct val="122000"/>
              </a:lnSpc>
              <a:spcAft>
                <a:spcPts val="700"/>
              </a:spcAft>
            </a:pPr>
            <a:r>
              <a:rPr sz="1350" b="1" i="0" spc="60">
                <a:solidFill>
                  <a:srgbClr val="2FBF9B"/>
                </a:solidFill>
                <a:latin typeface="Consolas"/>
              </a:rPr>
              <a:t>2 </a:t>
            </a:r>
            <a:r>
              <a:rPr sz="1250" b="1" i="0">
                <a:solidFill>
                  <a:srgbClr val="F3E9EE"/>
                </a:solidFill>
                <a:latin typeface="Trebuchet MS"/>
              </a:rPr>
              <a:t>Commission d'affiliation</a:t>
            </a:r>
            <a:r>
              <a:rPr sz="1250" b="0" i="0">
                <a:solidFill>
                  <a:srgbClr val="F3E9EE"/>
                </a:solidFill>
                <a:latin typeface="Trebuchet MS"/>
              </a:rPr>
              <a:t> — sur les ventes générées par une créatrice.</a:t>
            </a:r>
          </a:p>
          <a:p>
            <a:pPr>
              <a:lnSpc>
                <a:spcPct val="122000"/>
              </a:lnSpc>
              <a:spcAft>
                <a:spcPts val="700"/>
              </a:spcAft>
            </a:pPr>
            <a:r>
              <a:rPr sz="1350" b="1" i="0" spc="60">
                <a:solidFill>
                  <a:srgbClr val="2FBF9B"/>
                </a:solidFill>
                <a:latin typeface="Consolas"/>
              </a:rPr>
              <a:t>3 </a:t>
            </a:r>
            <a:r>
              <a:rPr sz="1250" b="1" i="0">
                <a:solidFill>
                  <a:srgbClr val="F3E9EE"/>
                </a:solidFill>
                <a:latin typeface="Trebuchet MS"/>
              </a:rPr>
              <a:t>Mise en avant</a:t>
            </a:r>
            <a:r>
              <a:rPr sz="1250" b="0" i="0">
                <a:solidFill>
                  <a:srgbClr val="F3E9EE"/>
                </a:solidFill>
                <a:latin typeface="Trebuchet MS"/>
              </a:rPr>
              <a:t> — produit, direct ou contenu sponsorisé, payé en Ariary.</a:t>
            </a:r>
          </a:p>
          <a:p>
            <a:pPr>
              <a:lnSpc>
                <a:spcPct val="122000"/>
              </a:lnSpc>
              <a:spcAft>
                <a:spcPts val="700"/>
              </a:spcAft>
            </a:pPr>
            <a:r>
              <a:rPr sz="1350" b="1" i="0" spc="60">
                <a:solidFill>
                  <a:srgbClr val="2FBF9B"/>
                </a:solidFill>
                <a:latin typeface="Consolas"/>
              </a:rPr>
              <a:t>4 </a:t>
            </a:r>
            <a:r>
              <a:rPr sz="1250" b="1" i="0">
                <a:solidFill>
                  <a:srgbClr val="F3E9EE"/>
                </a:solidFill>
                <a:latin typeface="Trebuchet MS"/>
              </a:rPr>
              <a:t>Abonnement vendeur</a:t>
            </a:r>
            <a:r>
              <a:rPr sz="1250" b="0" i="0">
                <a:solidFill>
                  <a:srgbClr val="F3E9EE"/>
                </a:solidFill>
                <a:latin typeface="Trebuchet MS"/>
              </a:rPr>
              <a:t> — par paliers : vitrine, outils avancés, équipe.</a:t>
            </a:r>
          </a:p>
          <a:p>
            <a:pPr>
              <a:lnSpc>
                <a:spcPct val="122000"/>
              </a:lnSpc>
              <a:spcAft>
                <a:spcPts val="700"/>
              </a:spcAft>
            </a:pPr>
            <a:r>
              <a:rPr sz="1350" b="1" i="0" spc="60">
                <a:solidFill>
                  <a:srgbClr val="2FBF9B"/>
                </a:solidFill>
                <a:latin typeface="Consolas"/>
              </a:rPr>
              <a:t>5 </a:t>
            </a:r>
            <a:r>
              <a:rPr sz="1250" b="1" i="0">
                <a:solidFill>
                  <a:srgbClr val="F3E9EE"/>
                </a:solidFill>
                <a:latin typeface="Trebuchet MS"/>
              </a:rPr>
              <a:t>JP Club</a:t>
            </a:r>
            <a:r>
              <a:rPr sz="1250" b="0" i="0">
                <a:solidFill>
                  <a:srgbClr val="F3E9EE"/>
                </a:solidFill>
                <a:latin typeface="Trebuchet MS"/>
              </a:rPr>
              <a:t> — abonnement acheteuse. Récurrent, sans coût marginal.</a:t>
            </a:r>
          </a:p>
          <a:p>
            <a:pPr>
              <a:lnSpc>
                <a:spcPct val="122000"/>
              </a:lnSpc>
              <a:spcAft>
                <a:spcPts val="700"/>
              </a:spcAft>
            </a:pPr>
            <a:r>
              <a:rPr sz="1350" b="1" i="0" spc="60">
                <a:solidFill>
                  <a:srgbClr val="2FBF9B"/>
                </a:solidFill>
                <a:latin typeface="Consolas"/>
              </a:rPr>
              <a:t>6 </a:t>
            </a:r>
            <a:r>
              <a:rPr sz="1250" b="1" i="0">
                <a:solidFill>
                  <a:srgbClr val="F3E9EE"/>
                </a:solidFill>
                <a:latin typeface="Trebuchet MS"/>
              </a:rPr>
              <a:t>Campagnes de marque</a:t>
            </a:r>
            <a:r>
              <a:rPr sz="1250" b="0" i="0">
                <a:solidFill>
                  <a:srgbClr val="F3E9EE"/>
                </a:solidFill>
                <a:latin typeface="Trebuchet MS"/>
              </a:rPr>
              <a:t> — avec des créatrices, mesurées jusqu'à la vente.</a:t>
            </a:r>
          </a:p>
          <a:p>
            <a:pPr>
              <a:lnSpc>
                <a:spcPct val="122000"/>
              </a:lnSpc>
              <a:spcAft>
                <a:spcPts val="700"/>
              </a:spcAft>
            </a:pPr>
            <a:r>
              <a:rPr sz="1350" b="1" i="0" spc="60">
                <a:solidFill>
                  <a:srgbClr val="2FBF9B"/>
                </a:solidFill>
                <a:latin typeface="Consolas"/>
              </a:rPr>
              <a:t>7 </a:t>
            </a:r>
            <a:r>
              <a:rPr sz="1250" b="1" i="0">
                <a:solidFill>
                  <a:srgbClr val="F3E9EE"/>
                </a:solidFill>
                <a:latin typeface="Trebuchet MS"/>
              </a:rPr>
              <a:t>Insights marché</a:t>
            </a:r>
            <a:r>
              <a:rPr sz="1250" b="0" i="0">
                <a:solidFill>
                  <a:srgbClr val="F3E9EE"/>
                </a:solidFill>
                <a:latin typeface="Trebuchet MS"/>
              </a:rPr>
              <a:t> — tendances de tailles, couleurs, prix. Anonymisés.</a:t>
            </a:r>
          </a:p>
        </p:txBody>
      </p:sp>
      <p:sp>
        <p:nvSpPr>
          <p:cNvPr id="10" name="TextBox 9"/>
          <p:cNvSpPr txBox="1"/>
          <p:nvPr/>
        </p:nvSpPr>
        <p:spPr>
          <a:xfrm>
            <a:off x="777240" y="4224528"/>
            <a:ext cx="10637215" cy="365760"/>
          </a:xfrm>
          <a:prstGeom prst="rect">
            <a:avLst/>
          </a:prstGeom>
          <a:noFill/>
        </p:spPr>
        <p:txBody>
          <a:bodyPr wrap="square" anchor="t" lIns="0" rIns="0" tIns="0" bIns="0"/>
          <a:lstStyle/>
          <a:p>
            <a:r>
              <a:rPr sz="1400" b="1" i="0">
                <a:solidFill>
                  <a:srgbClr val="F3E9EE"/>
                </a:solidFill>
                <a:latin typeface="Trebuchet MS"/>
              </a:rPr>
              <a:t>Le vendeur ne paie rien tant qu'il ne vend pas.</a:t>
            </a:r>
          </a:p>
        </p:txBody>
      </p:sp>
      <p:sp>
        <p:nvSpPr>
          <p:cNvPr id="11" name="Rectangle 10"/>
          <p:cNvSpPr/>
          <p:nvPr/>
        </p:nvSpPr>
        <p:spPr>
          <a:xfrm>
            <a:off x="777240" y="4709160"/>
            <a:ext cx="10637215" cy="137160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250" b="1" i="0">
                <a:solidFill>
                  <a:srgbClr val="E8B04B"/>
                </a:solidFill>
                <a:latin typeface="Trebuchet MS"/>
              </a:rPr>
              <a:t>Une mise au point sur la publicité.</a:t>
            </a:r>
            <a:r>
              <a:rPr sz="1250" b="0" i="0">
                <a:solidFill>
                  <a:srgbClr val="F3E9EE"/>
                </a:solidFill>
                <a:latin typeface="Trebuchet MS"/>
              </a:rPr>
              <a:t> Le CPM sur une audience malgache est dérisoire : il faudrait des dizaines de millions d'impressions pour un revenu significatif. La couche sociale se monétise par le commerce qu'elle déclenche, pas par l'attention qu'elle capte. La régie viendra après, si l'audience la justifie.</a:t>
            </a:r>
          </a:p>
        </p:txBody>
      </p:sp>
      <p:sp>
        <p:nvSpPr>
          <p:cNvPr id="12" name="Rectangle 11"/>
          <p:cNvSpPr/>
          <p:nvPr/>
        </p:nvSpPr>
        <p:spPr>
          <a:xfrm>
            <a:off x="777240" y="4709160"/>
            <a:ext cx="50292" cy="137160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0728691" cy="6858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2FBF9B"/>
                </a:solidFill>
                <a:latin typeface="Consolas"/>
              </a:rPr>
              <a:t>ACTE III · LE MODÈLE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22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051560"/>
          </a:xfrm>
          <a:prstGeom prst="rect">
            <a:avLst/>
          </a:prstGeom>
          <a:noFill/>
        </p:spPr>
        <p:txBody>
          <a:bodyPr wrap="square" anchor="t" lIns="0" rIns="0" tIns="0" bIns="0"/>
          <a:lstStyle/>
          <a:p>
            <a:pPr>
              <a:lnSpc>
                <a:spcPct val="102000"/>
              </a:lnSpc>
            </a:pPr>
            <a:r>
              <a:rPr sz="4400" b="1" i="0" spc="-60">
                <a:solidFill>
                  <a:srgbClr val="F3E9EE"/>
                </a:solidFill>
                <a:latin typeface="Georgia"/>
              </a:rPr>
              <a:t>Ni le code, ni la vitesse.</a:t>
            </a:r>
          </a:p>
        </p:txBody>
      </p:sp>
      <p:sp>
        <p:nvSpPr>
          <p:cNvPr id="9" name="TextBox 8"/>
          <p:cNvSpPr txBox="1"/>
          <p:nvPr/>
        </p:nvSpPr>
        <p:spPr>
          <a:xfrm>
            <a:off x="777240" y="1874519"/>
            <a:ext cx="10637215" cy="457200"/>
          </a:xfrm>
          <a:prstGeom prst="rect">
            <a:avLst/>
          </a:prstGeom>
          <a:noFill/>
        </p:spPr>
        <p:txBody>
          <a:bodyPr wrap="square" anchor="t" lIns="0" rIns="0" tIns="0" bIns="0"/>
          <a:lstStyle/>
          <a:p>
            <a:pPr>
              <a:lnSpc>
                <a:spcPct val="130000"/>
              </a:lnSpc>
            </a:pPr>
            <a:r>
              <a:rPr sz="1500" b="0" i="0">
                <a:solidFill>
                  <a:srgbClr val="F3E9EE"/>
                </a:solidFill>
                <a:latin typeface="Trebuchet MS"/>
              </a:rPr>
              <a:t>Trois actifs, qui s'accumulent au lieu de se copier.</a:t>
            </a:r>
          </a:p>
        </p:txBody>
      </p:sp>
      <p:sp>
        <p:nvSpPr>
          <p:cNvPr id="10" name="TextBox 9"/>
          <p:cNvSpPr txBox="1"/>
          <p:nvPr/>
        </p:nvSpPr>
        <p:spPr>
          <a:xfrm>
            <a:off x="777240" y="2487168"/>
            <a:ext cx="10637215" cy="3730752"/>
          </a:xfrm>
          <a:prstGeom prst="rect">
            <a:avLst/>
          </a:prstGeom>
          <a:noFill/>
        </p:spPr>
        <p:txBody>
          <a:bodyPr wrap="square" anchor="t" lIns="0" rIns="0" tIns="0" bIns="0"/>
          <a:lstStyle/>
          <a:p>
            <a:pPr>
              <a:lnSpc>
                <a:spcPct val="122000"/>
              </a:lnSpc>
              <a:spcAft>
                <a:spcPts val="1500"/>
              </a:spcAft>
            </a:pPr>
            <a:r>
              <a:rPr sz="1350" b="1" i="0">
                <a:solidFill>
                  <a:srgbClr val="2FBF9B"/>
                </a:solidFill>
                <a:latin typeface="Consolas"/>
              </a:rPr>
              <a:t>— </a:t>
            </a:r>
            <a:r>
              <a:rPr sz="1350" b="1" i="0">
                <a:solidFill>
                  <a:srgbClr val="2FBF9B"/>
                </a:solidFill>
                <a:latin typeface="Trebuchet MS"/>
              </a:rPr>
              <a:t>L'infrastructure de confiance.</a:t>
            </a:r>
            <a:r>
              <a:rPr sz="1350" b="0" i="0">
                <a:solidFill>
                  <a:srgbClr val="F3E9EE"/>
                </a:solidFill>
                <a:latin typeface="Trebuchet MS"/>
              </a:rPr>
              <a:t> Identités vérifiées, historique de transactions, scores construits sur des faits. Un concurrent peut copier l'interface en trois mois ; il ne peut pas copier deux ans d'historique.</a:t>
            </a:r>
          </a:p>
          <a:p>
            <a:pPr>
              <a:lnSpc>
                <a:spcPct val="122000"/>
              </a:lnSpc>
              <a:spcAft>
                <a:spcPts val="1500"/>
              </a:spcAft>
            </a:pPr>
            <a:r>
              <a:rPr sz="1350" b="1" i="0">
                <a:solidFill>
                  <a:srgbClr val="2FBF9B"/>
                </a:solidFill>
                <a:latin typeface="Consolas"/>
              </a:rPr>
              <a:t>— </a:t>
            </a:r>
            <a:r>
              <a:rPr sz="1350" b="1" i="0">
                <a:solidFill>
                  <a:srgbClr val="2FBF9B"/>
                </a:solidFill>
                <a:latin typeface="Trebuchet MS"/>
              </a:rPr>
              <a:t>Le graphe des relations.</a:t>
            </a:r>
            <a:r>
              <a:rPr sz="1350" b="0" i="0">
                <a:solidFill>
                  <a:srgbClr val="F3E9EE"/>
                </a:solidFill>
                <a:latin typeface="Trebuchet MS"/>
              </a:rPr>
              <a:t> Abonnés, créatrices, meilleures clientes, paliers de fidélité. Un vendeur qui a construit sa base ici ne repart pas. Ses clientes non plus.</a:t>
            </a:r>
          </a:p>
          <a:p>
            <a:pPr>
              <a:lnSpc>
                <a:spcPct val="122000"/>
              </a:lnSpc>
              <a:spcAft>
                <a:spcPts val="1500"/>
              </a:spcAft>
            </a:pPr>
            <a:r>
              <a:rPr sz="1350" b="1" i="0">
                <a:solidFill>
                  <a:srgbClr val="2FBF9B"/>
                </a:solidFill>
                <a:latin typeface="Consolas"/>
              </a:rPr>
              <a:t>— </a:t>
            </a:r>
            <a:r>
              <a:rPr sz="1350" b="1" i="0">
                <a:solidFill>
                  <a:srgbClr val="2FBF9B"/>
                </a:solidFill>
                <a:latin typeface="Trebuchet MS"/>
              </a:rPr>
              <a:t>La donnée verticale.</a:t>
            </a:r>
            <a:r>
              <a:rPr sz="1350" b="0" i="0">
                <a:solidFill>
                  <a:srgbClr val="F3E9EE"/>
                </a:solidFill>
                <a:latin typeface="Trebuchet MS"/>
              </a:rPr>
              <a:t> Nous serons les seuls à savoir ce qui se vend réellement dans le vestimentaire à Madagascar — taille par taille, couleur par couleur, prix par prix.</a:t>
            </a:r>
          </a:p>
        </p:txBody>
      </p:sp>
      <p:sp>
        <p:nvSpPr>
          <p:cNvPr id="11" name="Rectangle 10"/>
          <p:cNvSpPr/>
          <p:nvPr/>
        </p:nvSpPr>
        <p:spPr>
          <a:xfrm>
            <a:off x="777240" y="5257800"/>
            <a:ext cx="10637215" cy="8229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300" b="1" i="0">
                <a:solidFill>
                  <a:srgbClr val="2FBF9B"/>
                </a:solidFill>
                <a:latin typeface="Trebuchet MS"/>
              </a:rPr>
              <a:t>Et côté acheteuse, un coût de sortie qui monte tout seul :</a:t>
            </a:r>
            <a:r>
              <a:rPr sz="1300" b="0" i="0">
                <a:solidFill>
                  <a:srgbClr val="F3E9EE"/>
                </a:solidFill>
                <a:latin typeface="Trebuchet MS"/>
              </a:rPr>
              <a:t> historique, factures, cagnotte, avis publiés, contenus.</a:t>
            </a:r>
          </a:p>
        </p:txBody>
      </p:sp>
      <p:sp>
        <p:nvSpPr>
          <p:cNvPr id="12" name="Rectangle 11"/>
          <p:cNvSpPr/>
          <p:nvPr/>
        </p:nvSpPr>
        <p:spPr>
          <a:xfrm>
            <a:off x="777240" y="5257800"/>
            <a:ext cx="50292" cy="82296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1216359" cy="6858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2FBF9B"/>
                </a:solidFill>
                <a:latin typeface="Consolas"/>
              </a:rPr>
              <a:t>ACTE III · LE MODÈLE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23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676656"/>
            <a:ext cx="10637215" cy="640080"/>
          </a:xfrm>
          <a:prstGeom prst="rect">
            <a:avLst/>
          </a:prstGeom>
          <a:noFill/>
        </p:spPr>
        <p:txBody>
          <a:bodyPr wrap="square" anchor="t" lIns="0" rIns="0" tIns="0" bIns="0"/>
          <a:lstStyle/>
          <a:p>
            <a:pPr>
              <a:lnSpc>
                <a:spcPct val="102000"/>
              </a:lnSpc>
            </a:pPr>
            <a:r>
              <a:rPr sz="2800" b="1" i="0" spc="-60">
                <a:solidFill>
                  <a:srgbClr val="F3E9EE"/>
                </a:solidFill>
                <a:latin typeface="Georgia"/>
              </a:rPr>
              <a:t>Ce que nous supposons, et comment nous le vérifierons.</a:t>
            </a:r>
          </a:p>
        </p:txBody>
      </p:sp>
      <p:graphicFrame>
        <p:nvGraphicFramePr>
          <p:cNvPr id="9" name="Table 8"/>
          <p:cNvGraphicFramePr>
            <a:graphicFrameLocks noGrp="1"/>
          </p:cNvGraphicFramePr>
          <p:nvPr/>
        </p:nvGraphicFramePr>
        <p:xfrm>
          <a:off x="777240" y="1389888"/>
          <a:ext cx="10637215" cy="4023360"/>
        </p:xfrm>
        <a:graphic>
          <a:graphicData uri="http://schemas.openxmlformats.org/drawingml/2006/table">
            <a:tbl>
              <a:tblPr firstRow="1" bandRow="0">
                <a:tableStyleId>{2D5ABB26-0587-4C30-8999-92F81FD0307C}</a:tableStyleId>
              </a:tblPr>
              <a:tblGrid>
                <a:gridCol w="2286000"/>
                <a:gridCol w="2788920"/>
                <a:gridCol w="5562295"/>
              </a:tblGrid>
              <a:tr h="365760">
                <a:tc>
                  <a:txBody>
                    <a:bodyPr wrap="square"/>
                    <a:lstStyle/>
                    <a:p>
                      <a:pPr>
                        <a:lnSpc>
                          <a:spcPct val="114000"/>
                        </a:lnSpc>
                      </a:pPr>
                      <a:r>
                        <a:rPr sz="850" b="1" i="0" spc="120">
                          <a:solidFill>
                            <a:srgbClr val="2FBF9B"/>
                          </a:solidFill>
                          <a:latin typeface="Consolas"/>
                        </a:rPr>
                        <a:t>LEVIER</a:t>
                      </a:r>
                    </a:p>
                  </a:txBody>
                  <a:tcPr marL="128016" marR="128016" marT="64008" marB="64008" anchor="ctr">
                    <a:solidFill>
                      <a:srgbClr val="1A1220"/>
                    </a:solidFill>
                  </a:tcPr>
                </a:tc>
                <a:tc>
                  <a:txBody>
                    <a:bodyPr wrap="square"/>
                    <a:lstStyle/>
                    <a:p>
                      <a:pPr>
                        <a:lnSpc>
                          <a:spcPct val="114000"/>
                        </a:lnSpc>
                      </a:pPr>
                      <a:r>
                        <a:rPr sz="850" b="1" i="0" spc="120">
                          <a:solidFill>
                            <a:srgbClr val="2FBF9B"/>
                          </a:solidFill>
                          <a:latin typeface="Consolas"/>
                        </a:rPr>
                        <a:t>HYPOTHÈSE</a:t>
                      </a:r>
                    </a:p>
                  </a:txBody>
                  <a:tcPr marL="128016" marR="128016" marT="64008" marB="64008" anchor="ctr">
                    <a:solidFill>
                      <a:srgbClr val="1A1220"/>
                    </a:solidFill>
                  </a:tcPr>
                </a:tc>
                <a:tc>
                  <a:txBody>
                    <a:bodyPr wrap="square"/>
                    <a:lstStyle/>
                    <a:p>
                      <a:pPr>
                        <a:lnSpc>
                          <a:spcPct val="114000"/>
                        </a:lnSpc>
                      </a:pPr>
                      <a:r>
                        <a:rPr sz="850" b="1" i="0" spc="120">
                          <a:solidFill>
                            <a:srgbClr val="2FBF9B"/>
                          </a:solidFill>
                          <a:latin typeface="Consolas"/>
                        </a:rPr>
                        <a:t>À MESURER PENDANT LE PILOTE</a:t>
                      </a:r>
                    </a:p>
                  </a:txBody>
                  <a:tcPr marL="128016" marR="128016" marT="64008" marB="64008" anchor="ctr">
                    <a:solidFill>
                      <a:srgbClr val="1A1220"/>
                    </a:solidFill>
                  </a:tcPr>
                </a:tc>
              </a:tr>
              <a:tr h="365760">
                <a:tc>
                  <a:txBody>
                    <a:bodyPr wrap="square"/>
                    <a:lstStyle/>
                    <a:p>
                      <a:pPr>
                        <a:lnSpc>
                          <a:spcPct val="114000"/>
                        </a:lnSpc>
                      </a:pPr>
                      <a:r>
                        <a:rPr sz="950" b="1" i="0">
                          <a:solidFill>
                            <a:srgbClr val="F3E9EE"/>
                          </a:solidFill>
                          <a:latin typeface="Trebuchet MS"/>
                        </a:rPr>
                        <a:t>Commission par vente</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Fourchette par catégorie</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À quel taux le vendeur contourne la plateforme</a:t>
                      </a:r>
                    </a:p>
                  </a:txBody>
                  <a:tcPr marL="128016" marR="128016" marT="64008" marB="64008" anchor="ctr">
                    <a:solidFill>
                      <a:srgbClr val="261B2E"/>
                    </a:solidFill>
                  </a:tcPr>
                </a:tc>
              </a:tr>
              <a:tr h="365760">
                <a:tc>
                  <a:txBody>
                    <a:bodyPr wrap="square"/>
                    <a:lstStyle/>
                    <a:p>
                      <a:pPr>
                        <a:lnSpc>
                          <a:spcPct val="114000"/>
                        </a:lnSpc>
                      </a:pPr>
                      <a:r>
                        <a:rPr sz="950" b="1" i="0">
                          <a:solidFill>
                            <a:srgbClr val="F3E9EE"/>
                          </a:solidFill>
                          <a:latin typeface="Trebuchet MS"/>
                        </a:rPr>
                        <a:t>Prépaiement</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Une part le refusera</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Écart de conversion avec le paiement à la réception</a:t>
                      </a:r>
                    </a:p>
                  </a:txBody>
                  <a:tcPr marL="128016" marR="128016" marT="64008" marB="64008" anchor="ctr">
                    <a:solidFill>
                      <a:srgbClr val="1A1220"/>
                    </a:solidFill>
                  </a:tcPr>
                </a:tc>
              </a:tr>
              <a:tr h="365760">
                <a:tc>
                  <a:txBody>
                    <a:bodyPr wrap="square"/>
                    <a:lstStyle/>
                    <a:p>
                      <a:pPr>
                        <a:lnSpc>
                          <a:spcPct val="114000"/>
                        </a:lnSpc>
                      </a:pPr>
                      <a:r>
                        <a:rPr sz="950" b="1" i="0">
                          <a:solidFill>
                            <a:srgbClr val="F3E9EE"/>
                          </a:solidFill>
                          <a:latin typeface="Trebuchet MS"/>
                        </a:rPr>
                        <a:t>Panier moyen</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À établir</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Effet du paiement intégré sur le montant commandé</a:t>
                      </a:r>
                    </a:p>
                  </a:txBody>
                  <a:tcPr marL="128016" marR="128016" marT="64008" marB="64008" anchor="ctr">
                    <a:solidFill>
                      <a:srgbClr val="261B2E"/>
                    </a:solidFill>
                  </a:tcPr>
                </a:tc>
              </a:tr>
              <a:tr h="365760">
                <a:tc>
                  <a:txBody>
                    <a:bodyPr wrap="square"/>
                    <a:lstStyle/>
                    <a:p>
                      <a:pPr>
                        <a:lnSpc>
                          <a:spcPct val="114000"/>
                        </a:lnSpc>
                      </a:pPr>
                      <a:r>
                        <a:rPr sz="950" b="1" i="0">
                          <a:solidFill>
                            <a:srgbClr val="F3E9EE"/>
                          </a:solidFill>
                          <a:latin typeface="Trebuchet MS"/>
                        </a:rPr>
                        <a:t>Conversion en direct</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À établir</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Spectateurs → « Je prends » → paiement confirmé</a:t>
                      </a:r>
                    </a:p>
                  </a:txBody>
                  <a:tcPr marL="128016" marR="128016" marT="64008" marB="64008" anchor="ctr">
                    <a:solidFill>
                      <a:srgbClr val="1A1220"/>
                    </a:solidFill>
                  </a:tcPr>
                </a:tc>
              </a:tr>
              <a:tr h="365760">
                <a:tc>
                  <a:txBody>
                    <a:bodyPr wrap="square"/>
                    <a:lstStyle/>
                    <a:p>
                      <a:pPr>
                        <a:lnSpc>
                          <a:spcPct val="114000"/>
                        </a:lnSpc>
                      </a:pPr>
                      <a:r>
                        <a:rPr sz="950" b="1" i="0">
                          <a:solidFill>
                            <a:srgbClr val="F3E9EE"/>
                          </a:solidFill>
                          <a:latin typeface="Trebuchet MS"/>
                        </a:rPr>
                        <a:t>Conversion du contenu</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Inconnue</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Ce que convertit un clip, comparé à un direct</a:t>
                      </a:r>
                    </a:p>
                  </a:txBody>
                  <a:tcPr marL="128016" marR="128016" marT="64008" marB="64008" anchor="ctr">
                    <a:solidFill>
                      <a:srgbClr val="261B2E"/>
                    </a:solidFill>
                  </a:tcPr>
                </a:tc>
              </a:tr>
              <a:tr h="365760">
                <a:tc>
                  <a:txBody>
                    <a:bodyPr wrap="square"/>
                    <a:lstStyle/>
                    <a:p>
                      <a:pPr>
                        <a:lnSpc>
                          <a:spcPct val="114000"/>
                        </a:lnSpc>
                      </a:pPr>
                      <a:r>
                        <a:rPr sz="950" b="1" i="0">
                          <a:solidFill>
                            <a:srgbClr val="F3E9EE"/>
                          </a:solidFill>
                          <a:latin typeface="Trebuchet MS"/>
                        </a:rPr>
                        <a:t>Production de contenu</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Inconnue</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Part des acheteuses qui publient un unboxing</a:t>
                      </a:r>
                    </a:p>
                  </a:txBody>
                  <a:tcPr marL="128016" marR="128016" marT="64008" marB="64008" anchor="ctr">
                    <a:solidFill>
                      <a:srgbClr val="1A1220"/>
                    </a:solidFill>
                  </a:tcPr>
                </a:tc>
              </a:tr>
              <a:tr h="365760">
                <a:tc>
                  <a:txBody>
                    <a:bodyPr wrap="square"/>
                    <a:lstStyle/>
                    <a:p>
                      <a:pPr>
                        <a:lnSpc>
                          <a:spcPct val="114000"/>
                        </a:lnSpc>
                      </a:pPr>
                      <a:r>
                        <a:rPr sz="950" b="1" i="0">
                          <a:solidFill>
                            <a:srgbClr val="F3E9EE"/>
                          </a:solidFill>
                          <a:latin typeface="Trebuchet MS"/>
                        </a:rPr>
                        <a:t>Acquisition par créatrice</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Moins chère que la publicité</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Coût d'une cliente amenée par une créatrice</a:t>
                      </a:r>
                    </a:p>
                  </a:txBody>
                  <a:tcPr marL="128016" marR="128016" marT="64008" marB="64008" anchor="ctr">
                    <a:solidFill>
                      <a:srgbClr val="261B2E"/>
                    </a:solidFill>
                  </a:tcPr>
                </a:tc>
              </a:tr>
              <a:tr h="365760">
                <a:tc>
                  <a:txBody>
                    <a:bodyPr wrap="square"/>
                    <a:lstStyle/>
                    <a:p>
                      <a:pPr>
                        <a:lnSpc>
                          <a:spcPct val="114000"/>
                        </a:lnSpc>
                      </a:pPr>
                      <a:r>
                        <a:rPr sz="950" b="1" i="0">
                          <a:solidFill>
                            <a:srgbClr val="F3E9EE"/>
                          </a:solidFill>
                          <a:latin typeface="Trebuchet MS"/>
                        </a:rPr>
                        <a:t>Commande-cadeau</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Panier plus élevé</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Écart avec le panier ordinaire, part payée de l'étranger</a:t>
                      </a:r>
                    </a:p>
                  </a:txBody>
                  <a:tcPr marL="128016" marR="128016" marT="64008" marB="64008" anchor="ctr">
                    <a:solidFill>
                      <a:srgbClr val="1A1220"/>
                    </a:solidFill>
                  </a:tcPr>
                </a:tc>
              </a:tr>
              <a:tr h="365760">
                <a:tc>
                  <a:txBody>
                    <a:bodyPr wrap="square"/>
                    <a:lstStyle/>
                    <a:p>
                      <a:pPr>
                        <a:lnSpc>
                          <a:spcPct val="114000"/>
                        </a:lnSpc>
                      </a:pPr>
                      <a:r>
                        <a:rPr sz="950" b="1" i="0">
                          <a:solidFill>
                            <a:srgbClr val="F3E9EE"/>
                          </a:solidFill>
                          <a:latin typeface="Trebuchet MS"/>
                        </a:rPr>
                        <a:t>Mode de livraison</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Relais majoritaire sur petits paniers</a:t>
                      </a:r>
                    </a:p>
                  </a:txBody>
                  <a:tcPr marL="128016" marR="128016" marT="64008" marB="64008" anchor="ctr">
                    <a:solidFill>
                      <a:srgbClr val="261B2E"/>
                    </a:solidFill>
                  </a:tcPr>
                </a:tc>
                <a:tc>
                  <a:txBody>
                    <a:bodyPr wrap="square"/>
                    <a:lstStyle/>
                    <a:p>
                      <a:pPr>
                        <a:lnSpc>
                          <a:spcPct val="114000"/>
                        </a:lnSpc>
                      </a:pPr>
                      <a:r>
                        <a:rPr sz="950" b="0" i="0">
                          <a:solidFill>
                            <a:srgbClr val="A99AA4"/>
                          </a:solidFill>
                          <a:latin typeface="Trebuchet MS"/>
                        </a:rPr>
                        <a:t>Répartition, et effet sur le taux d'abandon</a:t>
                      </a:r>
                    </a:p>
                  </a:txBody>
                  <a:tcPr marL="128016" marR="128016" marT="64008" marB="64008" anchor="ctr">
                    <a:solidFill>
                      <a:srgbClr val="261B2E"/>
                    </a:solidFill>
                  </a:tcPr>
                </a:tc>
              </a:tr>
              <a:tr h="365760">
                <a:tc>
                  <a:txBody>
                    <a:bodyPr wrap="square"/>
                    <a:lstStyle/>
                    <a:p>
                      <a:pPr>
                        <a:lnSpc>
                          <a:spcPct val="114000"/>
                        </a:lnSpc>
                      </a:pPr>
                      <a:r>
                        <a:rPr sz="950" b="1" i="0">
                          <a:solidFill>
                            <a:srgbClr val="F3E9EE"/>
                          </a:solidFill>
                          <a:latin typeface="Trebuchet MS"/>
                        </a:rPr>
                        <a:t>Budget de lancement</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Acquisition = poste dominant</a:t>
                      </a:r>
                    </a:p>
                  </a:txBody>
                  <a:tcPr marL="128016" marR="128016" marT="64008" marB="64008" anchor="ctr">
                    <a:solidFill>
                      <a:srgbClr val="1A1220"/>
                    </a:solidFill>
                  </a:tcPr>
                </a:tc>
                <a:tc>
                  <a:txBody>
                    <a:bodyPr wrap="square"/>
                    <a:lstStyle/>
                    <a:p>
                      <a:pPr>
                        <a:lnSpc>
                          <a:spcPct val="114000"/>
                        </a:lnSpc>
                      </a:pPr>
                      <a:r>
                        <a:rPr sz="950" b="0" i="0">
                          <a:solidFill>
                            <a:srgbClr val="A99AA4"/>
                          </a:solidFill>
                          <a:latin typeface="Trebuchet MS"/>
                        </a:rPr>
                        <a:t>Coût réel d'un premier acheteur, d'un premier vendeur</a:t>
                      </a:r>
                    </a:p>
                  </a:txBody>
                  <a:tcPr marL="128016" marR="128016" marT="64008" marB="64008" anchor="ctr">
                    <a:solidFill>
                      <a:srgbClr val="1A1220"/>
                    </a:solidFill>
                  </a:tcPr>
                </a:tc>
              </a:tr>
            </a:tbl>
          </a:graphicData>
        </a:graphic>
      </p:graphicFrame>
      <p:sp>
        <p:nvSpPr>
          <p:cNvPr id="10" name="Rectangle 9"/>
          <p:cNvSpPr/>
          <p:nvPr/>
        </p:nvSpPr>
        <p:spPr>
          <a:xfrm>
            <a:off x="777240" y="1755648"/>
            <a:ext cx="10637215" cy="1270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Rectangle 10"/>
          <p:cNvSpPr/>
          <p:nvPr/>
        </p:nvSpPr>
        <p:spPr>
          <a:xfrm>
            <a:off x="777240" y="5614416"/>
            <a:ext cx="10637215" cy="54864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150" b="1" i="0">
                <a:solidFill>
                  <a:srgbClr val="E8B04B"/>
                </a:solidFill>
                <a:latin typeface="Trebuchet MS"/>
              </a:rPr>
              <a:t>Aucun chiffre de ce dossier n'est présenté comme acquis.</a:t>
            </a:r>
            <a:r>
              <a:rPr sz="1150" b="0" i="0">
                <a:solidFill>
                  <a:srgbClr val="F3E9EE"/>
                </a:solidFill>
                <a:latin typeface="Trebuchet MS"/>
              </a:rPr>
              <a:t> Les fourchettes se trancheront avec les premiers vendeurs et les premières créatrices.</a:t>
            </a:r>
          </a:p>
        </p:txBody>
      </p:sp>
      <p:sp>
        <p:nvSpPr>
          <p:cNvPr id="12" name="Rectangle 11"/>
          <p:cNvSpPr/>
          <p:nvPr/>
        </p:nvSpPr>
        <p:spPr>
          <a:xfrm>
            <a:off x="777240" y="5614416"/>
            <a:ext cx="50292" cy="54864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1704027" cy="6858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2FBF9B"/>
                </a:solidFill>
                <a:latin typeface="Consolas"/>
              </a:rPr>
              <a:t>ACTE III · LE MODÈLE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24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804672"/>
            <a:ext cx="10637215" cy="1280160"/>
          </a:xfrm>
          <a:prstGeom prst="rect">
            <a:avLst/>
          </a:prstGeom>
          <a:noFill/>
        </p:spPr>
        <p:txBody>
          <a:bodyPr wrap="square" anchor="t" lIns="0" rIns="0" tIns="0" bIns="0"/>
          <a:lstStyle/>
          <a:p>
            <a:pPr>
              <a:lnSpc>
                <a:spcPct val="102000"/>
              </a:lnSpc>
            </a:pPr>
            <a:r>
              <a:rPr sz="3400" b="1" i="0" spc="-60">
                <a:solidFill>
                  <a:srgbClr val="F3E9EE"/>
                </a:solidFill>
                <a:latin typeface="Georgia"/>
              </a:rPr>
              <a:t>Construire le produit n'est pas le problème.
Le lancer, oui.</a:t>
            </a:r>
          </a:p>
        </p:txBody>
      </p:sp>
      <p:sp>
        <p:nvSpPr>
          <p:cNvPr id="9" name="Rectangle 8"/>
          <p:cNvSpPr/>
          <p:nvPr/>
        </p:nvSpPr>
        <p:spPr>
          <a:xfrm>
            <a:off x="777240" y="2084831"/>
            <a:ext cx="5112867" cy="129844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09728" bIns="109728"/>
          <a:lstStyle/>
          <a:p>
            <a:pPr algn="l">
              <a:lnSpc>
                <a:spcPct val="122000"/>
              </a:lnSpc>
            </a:pPr>
            <a:r>
              <a:rPr sz="1050" b="1" i="0" spc="120">
                <a:solidFill>
                  <a:srgbClr val="A99AA4"/>
                </a:solidFill>
                <a:latin typeface="Consolas"/>
              </a:rPr>
              <a:t>CE QUI N'EST PAS BLOQUANT
</a:t>
            </a:r>
            <a:r>
              <a:rPr sz="1200" b="0" i="0">
                <a:solidFill>
                  <a:srgbClr val="A99AA4"/>
                </a:solidFill>
                <a:latin typeface="Trebuchet MS"/>
              </a:rPr>
              <a:t>La plateforme est un travail de développement identifié et cadré. Le seul poste techniquement incertain est la vidéo.</a:t>
            </a:r>
          </a:p>
        </p:txBody>
      </p:sp>
      <p:sp>
        <p:nvSpPr>
          <p:cNvPr id="10" name="Rectangle 9"/>
          <p:cNvSpPr/>
          <p:nvPr/>
        </p:nvSpPr>
        <p:spPr>
          <a:xfrm>
            <a:off x="777240" y="2084831"/>
            <a:ext cx="50292" cy="1298448"/>
          </a:xfrm>
          <a:prstGeom prst="rect">
            <a:avLst/>
          </a:prstGeom>
          <a:solidFill>
            <a:srgbClr val="A99AA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Rectangle 10"/>
          <p:cNvSpPr/>
          <p:nvPr/>
        </p:nvSpPr>
        <p:spPr>
          <a:xfrm>
            <a:off x="6301587" y="2084831"/>
            <a:ext cx="5112867" cy="1298448"/>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164592" tIns="109728" bIns="109728"/>
          <a:lstStyle/>
          <a:p>
            <a:pPr algn="l">
              <a:lnSpc>
                <a:spcPct val="122000"/>
              </a:lnSpc>
            </a:pPr>
            <a:r>
              <a:rPr sz="1050" b="1" i="0" spc="120">
                <a:solidFill>
                  <a:srgbClr val="D9552F"/>
                </a:solidFill>
                <a:latin typeface="Consolas"/>
              </a:rPr>
              <a:t>CE QUI EST BLOQUANT
</a:t>
            </a:r>
            <a:r>
              <a:rPr sz="1200" b="0" i="0">
                <a:solidFill>
                  <a:srgbClr val="F3E9EE"/>
                </a:solidFill>
                <a:latin typeface="Trebuchet MS"/>
              </a:rPr>
              <a:t>Le lancement. Réunir au même moment les premiers vendeurs, leurs abonnés, les premières créatrices, les partenaires paiement et livraison — et faire savoir que JP existe.</a:t>
            </a:r>
          </a:p>
        </p:txBody>
      </p:sp>
      <p:sp>
        <p:nvSpPr>
          <p:cNvPr id="12" name="Rectangle 11"/>
          <p:cNvSpPr/>
          <p:nvPr/>
        </p:nvSpPr>
        <p:spPr>
          <a:xfrm>
            <a:off x="6301587" y="2084831"/>
            <a:ext cx="50292" cy="1298448"/>
          </a:xfrm>
          <a:prstGeom prst="rect">
            <a:avLst/>
          </a:prstGeom>
          <a:solidFill>
            <a:srgbClr val="D955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3" name="TextBox 12"/>
          <p:cNvSpPr txBox="1"/>
          <p:nvPr/>
        </p:nvSpPr>
        <p:spPr>
          <a:xfrm>
            <a:off x="777240" y="3566160"/>
            <a:ext cx="10637215" cy="822960"/>
          </a:xfrm>
          <a:prstGeom prst="rect">
            <a:avLst/>
          </a:prstGeom>
          <a:noFill/>
        </p:spPr>
        <p:txBody>
          <a:bodyPr wrap="square" anchor="t" lIns="0" rIns="0" tIns="0" bIns="0"/>
          <a:lstStyle/>
          <a:p>
            <a:pPr>
              <a:lnSpc>
                <a:spcPct val="124000"/>
              </a:lnSpc>
            </a:pPr>
            <a:r>
              <a:rPr sz="1300" b="1" i="0">
                <a:solidFill>
                  <a:srgbClr val="F3E9EE"/>
                </a:solidFill>
                <a:latin typeface="Trebuchet MS"/>
              </a:rPr>
              <a:t>Les postes, par ordre de poids : </a:t>
            </a:r>
            <a:r>
              <a:rPr sz="1250" b="0" i="0">
                <a:solidFill>
                  <a:srgbClr val="A99AA4"/>
                </a:solidFill>
                <a:latin typeface="Trebuchet MS"/>
              </a:rPr>
              <a:t>acquisition et animation · </a:t>
            </a:r>
            <a:r>
              <a:rPr sz="1250" b="1" i="0">
                <a:solidFill>
                  <a:srgbClr val="E8B04B"/>
                </a:solidFill>
                <a:latin typeface="Trebuchet MS"/>
              </a:rPr>
              <a:t>amorçage du contenu</a:t>
            </a:r>
            <a:r>
              <a:rPr sz="1250" b="0" i="0">
                <a:solidFill>
                  <a:srgbClr val="A99AA4"/>
                </a:solidFill>
                <a:latin typeface="Trebuchet MS"/>
              </a:rPr>
              <a:t> (un fil vide est pire que pas de fil) · développement · </a:t>
            </a:r>
            <a:r>
              <a:rPr sz="1250" b="1" i="0">
                <a:solidFill>
                  <a:srgbClr val="E8B04B"/>
                </a:solidFill>
                <a:latin typeface="Trebuchet MS"/>
              </a:rPr>
              <a:t>modération</a:t>
            </a:r>
            <a:r>
              <a:rPr sz="1250" b="0" i="0">
                <a:solidFill>
                  <a:srgbClr val="A99AA4"/>
                </a:solidFill>
                <a:latin typeface="Trebuchet MS"/>
              </a:rPr>
              <a:t> (coût humain permanent) · infrastructure vidéo · frais de paiement · logistique · juridique.</a:t>
            </a:r>
          </a:p>
        </p:txBody>
      </p:sp>
      <p:sp>
        <p:nvSpPr>
          <p:cNvPr id="14" name="TextBox 13"/>
          <p:cNvSpPr txBox="1"/>
          <p:nvPr/>
        </p:nvSpPr>
        <p:spPr>
          <a:xfrm>
            <a:off x="777240" y="4498848"/>
            <a:ext cx="10637215" cy="1005840"/>
          </a:xfrm>
          <a:prstGeom prst="rect">
            <a:avLst/>
          </a:prstGeom>
          <a:noFill/>
        </p:spPr>
        <p:txBody>
          <a:bodyPr wrap="square" anchor="t" lIns="0" rIns="0" tIns="0" bIns="0"/>
          <a:lstStyle/>
          <a:p>
            <a:pPr>
              <a:lnSpc>
                <a:spcPct val="124000"/>
              </a:lnSpc>
            </a:pPr>
            <a:r>
              <a:rPr sz="1500" b="1" i="0">
                <a:solidFill>
                  <a:srgbClr val="E8B04B"/>
                </a:solidFill>
                <a:latin typeface="Trebuchet MS"/>
              </a:rPr>
              <a:t>Horizon envisagé : environ 3 mois</a:t>
            </a:r>
            <a:r>
              <a:rPr sz="1350" b="0" i="0">
                <a:solidFill>
                  <a:srgbClr val="F3E9EE"/>
                </a:solidFill>
                <a:latin typeface="Trebuchet MS"/>
              </a:rPr>
              <a:t>, test produit inclus. </a:t>
            </a:r>
            <a:r>
              <a:rPr sz="1250" b="0" i="1">
                <a:solidFill>
                  <a:srgbClr val="A99AA4"/>
                </a:solidFill>
                <a:latin typeface="Trebuchet MS"/>
              </a:rPr>
              <a:t>Cet horizon est tendu au regard du périmètre — la vidéo et la modération pèsent. Deux issues honnêtes : allonger le délai, ou livrer le contenu en deux temps. C'est un arbitrage à poser maintenant, pas à découvrir en route.</a:t>
            </a:r>
          </a:p>
        </p:txBody>
      </p:sp>
      <p:sp>
        <p:nvSpPr>
          <p:cNvPr id="15" name="Rectangle 14"/>
          <p:cNvSpPr/>
          <p:nvPr/>
        </p:nvSpPr>
        <p:spPr>
          <a:xfrm>
            <a:off x="777240" y="5541264"/>
            <a:ext cx="10637215" cy="621792"/>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164592" tIns="109728" bIns="109728"/>
          <a:lstStyle/>
          <a:p>
            <a:pPr algn="l">
              <a:lnSpc>
                <a:spcPct val="125000"/>
              </a:lnSpc>
            </a:pPr>
            <a:r>
              <a:rPr sz="1150" b="1" i="0">
                <a:solidFill>
                  <a:srgbClr val="E8B04B"/>
                </a:solidFill>
                <a:latin typeface="Trebuchet MS"/>
              </a:rPr>
              <a:t>Nous demandons un budget de lancement, pas un budget de développement.</a:t>
            </a:r>
            <a:r>
              <a:rPr sz="1150" b="0" i="0">
                <a:solidFill>
                  <a:srgbClr val="F3E9EE"/>
                </a:solidFill>
                <a:latin typeface="Trebuchet MS"/>
              </a:rPr>
              <a:t> Le montant se cale avec le plan retenu — une ville, ou une ouverture plus large.</a:t>
            </a:r>
          </a:p>
        </p:txBody>
      </p:sp>
      <p:sp>
        <p:nvSpPr>
          <p:cNvPr id="16" name="Rectangle 15"/>
          <p:cNvSpPr/>
          <p:nvPr/>
        </p:nvSpPr>
        <p:spPr>
          <a:xfrm>
            <a:off x="777240" y="5541264"/>
            <a:ext cx="50292" cy="621792"/>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22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3" name="Rectangle 2"/>
          <p:cNvSpPr/>
          <p:nvPr/>
        </p:nvSpPr>
        <p:spPr>
          <a:xfrm>
            <a:off x="0" y="0"/>
            <a:ext cx="12191695" cy="68580"/>
          </a:xfrm>
          <a:prstGeom prst="rect">
            <a:avLst/>
          </a:prstGeom>
          <a:solidFill>
            <a:srgbClr val="3123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4" name="Rectangle 3"/>
          <p:cNvSpPr/>
          <p:nvPr/>
        </p:nvSpPr>
        <p:spPr>
          <a:xfrm>
            <a:off x="0" y="0"/>
            <a:ext cx="12191695" cy="68580"/>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5" name="TextBox 4"/>
          <p:cNvSpPr txBox="1"/>
          <p:nvPr/>
        </p:nvSpPr>
        <p:spPr>
          <a:xfrm>
            <a:off x="777240" y="365760"/>
            <a:ext cx="6400800" cy="274320"/>
          </a:xfrm>
          <a:prstGeom prst="rect">
            <a:avLst/>
          </a:prstGeom>
          <a:noFill/>
        </p:spPr>
        <p:txBody>
          <a:bodyPr wrap="square" anchor="t" lIns="0" rIns="0" tIns="0" bIns="0"/>
          <a:lstStyle/>
          <a:p>
            <a:r>
              <a:rPr sz="1000" b="1" i="0" spc="160">
                <a:solidFill>
                  <a:srgbClr val="2FBF9B"/>
                </a:solidFill>
                <a:latin typeface="Consolas"/>
              </a:rPr>
              <a:t>ACTE III · LE MODÈLE</a:t>
            </a:r>
          </a:p>
        </p:txBody>
      </p:sp>
      <p:sp>
        <p:nvSpPr>
          <p:cNvPr id="6" name="TextBox 5"/>
          <p:cNvSpPr txBox="1"/>
          <p:nvPr/>
        </p:nvSpPr>
        <p:spPr>
          <a:xfrm>
            <a:off x="9402775" y="365760"/>
            <a:ext cx="2011680" cy="274320"/>
          </a:xfrm>
          <a:prstGeom prst="rect">
            <a:avLst/>
          </a:prstGeom>
          <a:noFill/>
        </p:spPr>
        <p:txBody>
          <a:bodyPr wrap="square" anchor="t" lIns="0" rIns="0" tIns="0" bIns="0"/>
          <a:lstStyle/>
          <a:p>
            <a:pPr algn="r"/>
            <a:r>
              <a:rPr sz="1000" b="0" i="0" spc="120">
                <a:solidFill>
                  <a:srgbClr val="6B5C67"/>
                </a:solidFill>
                <a:latin typeface="Consolas"/>
              </a:rPr>
              <a:t>25 / 25</a:t>
            </a:r>
          </a:p>
        </p:txBody>
      </p:sp>
      <p:sp>
        <p:nvSpPr>
          <p:cNvPr id="7" name="TextBox 6"/>
          <p:cNvSpPr txBox="1"/>
          <p:nvPr/>
        </p:nvSpPr>
        <p:spPr>
          <a:xfrm>
            <a:off x="777240" y="6327648"/>
            <a:ext cx="2743200" cy="274320"/>
          </a:xfrm>
          <a:prstGeom prst="rect">
            <a:avLst/>
          </a:prstGeom>
          <a:noFill/>
        </p:spPr>
        <p:txBody>
          <a:bodyPr wrap="square" anchor="t" lIns="0" rIns="0" tIns="0" bIns="0"/>
          <a:lstStyle/>
          <a:p>
            <a:r>
              <a:rPr sz="900" b="0" i="0" spc="100">
                <a:solidFill>
                  <a:srgbClr val="6B5C67"/>
                </a:solidFill>
                <a:latin typeface="Consolas"/>
              </a:rPr>
              <a:t>JP · Je prends</a:t>
            </a:r>
          </a:p>
        </p:txBody>
      </p:sp>
      <p:sp>
        <p:nvSpPr>
          <p:cNvPr id="8" name="TextBox 7"/>
          <p:cNvSpPr txBox="1"/>
          <p:nvPr/>
        </p:nvSpPr>
        <p:spPr>
          <a:xfrm>
            <a:off x="777240" y="694944"/>
            <a:ext cx="10637215" cy="777240"/>
          </a:xfrm>
          <a:prstGeom prst="rect">
            <a:avLst/>
          </a:prstGeom>
          <a:noFill/>
        </p:spPr>
        <p:txBody>
          <a:bodyPr wrap="square" anchor="t" lIns="0" rIns="0" tIns="0" bIns="0"/>
          <a:lstStyle/>
          <a:p>
            <a:pPr>
              <a:lnSpc>
                <a:spcPct val="102000"/>
              </a:lnSpc>
            </a:pPr>
            <a:r>
              <a:rPr sz="3400" b="1" i="0" spc="-60">
                <a:solidFill>
                  <a:srgbClr val="F3E9EE"/>
                </a:solidFill>
                <a:latin typeface="Georgia"/>
              </a:rPr>
              <a:t>Trois phases. Une seule à financer aujourd'hui.</a:t>
            </a:r>
          </a:p>
        </p:txBody>
      </p:sp>
      <p:sp>
        <p:nvSpPr>
          <p:cNvPr id="9" name="Rectangle 8"/>
          <p:cNvSpPr/>
          <p:nvPr/>
        </p:nvSpPr>
        <p:spPr>
          <a:xfrm>
            <a:off x="777240" y="1627632"/>
            <a:ext cx="3362858" cy="19659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09728"/>
          <a:lstStyle/>
          <a:p>
            <a:pPr algn="l">
              <a:lnSpc>
                <a:spcPct val="118000"/>
              </a:lnSpc>
            </a:pPr>
            <a:r>
              <a:rPr sz="950" b="1" i="0" spc="140">
                <a:solidFill>
                  <a:srgbClr val="E4306E"/>
                </a:solidFill>
                <a:latin typeface="Consolas"/>
              </a:rPr>
              <a:t>PHASE 1
</a:t>
            </a:r>
            <a:r>
              <a:rPr sz="1350" b="1" i="0">
                <a:solidFill>
                  <a:srgbClr val="F3E9EE"/>
                </a:solidFill>
                <a:latin typeface="Trebuchet MS"/>
              </a:rPr>
              <a:t>Le geste et la preuve
</a:t>
            </a:r>
            <a:r>
              <a:rPr sz="1000" b="0" i="0">
                <a:solidFill>
                  <a:srgbClr val="A99AA4"/>
                </a:solidFill>
                <a:latin typeface="Trebuchet MS"/>
              </a:rPr>
              <a:t>Direct et bouton « Je prends », paiement mobile money, fonds tenus jusqu'à réception, facture, suivi, vendeurs vérifiés — et le noyau de contenu : stories, clips achetables, unboxing, créatrices et affiliation, précommande, cadeau, modération.</a:t>
            </a:r>
          </a:p>
        </p:txBody>
      </p:sp>
      <p:sp>
        <p:nvSpPr>
          <p:cNvPr id="10" name="Rectangle 9"/>
          <p:cNvSpPr/>
          <p:nvPr/>
        </p:nvSpPr>
        <p:spPr>
          <a:xfrm>
            <a:off x="777240" y="1627632"/>
            <a:ext cx="3362858" cy="4572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1" name="Rectangle 10"/>
          <p:cNvSpPr/>
          <p:nvPr/>
        </p:nvSpPr>
        <p:spPr>
          <a:xfrm>
            <a:off x="4414418" y="1627632"/>
            <a:ext cx="3362858" cy="19659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09728"/>
          <a:lstStyle/>
          <a:p>
            <a:pPr algn="l">
              <a:lnSpc>
                <a:spcPct val="118000"/>
              </a:lnSpc>
            </a:pPr>
            <a:r>
              <a:rPr sz="950" b="1" i="0" spc="140">
                <a:solidFill>
                  <a:srgbClr val="A99AA4"/>
                </a:solidFill>
                <a:latin typeface="Consolas"/>
              </a:rPr>
              <a:t>PHASE 2
</a:t>
            </a:r>
            <a:r>
              <a:rPr sz="1350" b="1" i="0">
                <a:solidFill>
                  <a:srgbClr val="F3E9EE"/>
                </a:solidFill>
                <a:latin typeface="Trebuchet MS"/>
              </a:rPr>
              <a:t>La communauté
</a:t>
            </a:r>
            <a:r>
              <a:rPr sz="1000" b="0" i="0">
                <a:solidFill>
                  <a:srgbClr val="A99AA4"/>
                </a:solidFill>
                <a:latin typeface="Trebuchet MS"/>
              </a:rPr>
              <a:t>Replay achetable, avis vérifiés et score public, abonnés et notifications, promotions programmées, paliers de fidélité et cagnotte, guide des tailles, retours, JP Club.</a:t>
            </a:r>
          </a:p>
        </p:txBody>
      </p:sp>
      <p:sp>
        <p:nvSpPr>
          <p:cNvPr id="12" name="Rectangle 11"/>
          <p:cNvSpPr/>
          <p:nvPr/>
        </p:nvSpPr>
        <p:spPr>
          <a:xfrm>
            <a:off x="4414418" y="1627632"/>
            <a:ext cx="3362858" cy="45720"/>
          </a:xfrm>
          <a:prstGeom prst="rect">
            <a:avLst/>
          </a:prstGeom>
          <a:solidFill>
            <a:srgbClr val="A99AA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3" name="Rectangle 12"/>
          <p:cNvSpPr/>
          <p:nvPr/>
        </p:nvSpPr>
        <p:spPr>
          <a:xfrm>
            <a:off x="8051596" y="1627632"/>
            <a:ext cx="3362858" cy="1965960"/>
          </a:xfrm>
          <a:prstGeom prst="rect">
            <a:avLst/>
          </a:prstGeom>
          <a:solidFill>
            <a:srgbClr val="261B2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09728"/>
          <a:lstStyle/>
          <a:p>
            <a:pPr algn="l">
              <a:lnSpc>
                <a:spcPct val="118000"/>
              </a:lnSpc>
            </a:pPr>
            <a:r>
              <a:rPr sz="950" b="1" i="0" spc="140">
                <a:solidFill>
                  <a:srgbClr val="6B5C67"/>
                </a:solidFill>
                <a:latin typeface="Consolas"/>
              </a:rPr>
              <a:t>PHASE 3
</a:t>
            </a:r>
            <a:r>
              <a:rPr sz="1350" b="1" i="0">
                <a:solidFill>
                  <a:srgbClr val="F3E9EE"/>
                </a:solidFill>
                <a:latin typeface="Trebuchet MS"/>
              </a:rPr>
              <a:t>L'échelle
</a:t>
            </a:r>
            <a:r>
              <a:rPr sz="1000" b="0" i="0">
                <a:solidFill>
                  <a:srgbClr val="A99AA4"/>
                </a:solidFill>
                <a:latin typeface="Trebuchet MS"/>
              </a:rPr>
              <a:t>Enchères et ventes flash, direct à deux, assistant du vendeur, espace marque, insights marché.</a:t>
            </a:r>
          </a:p>
        </p:txBody>
      </p:sp>
      <p:sp>
        <p:nvSpPr>
          <p:cNvPr id="14" name="Rectangle 13"/>
          <p:cNvSpPr/>
          <p:nvPr/>
        </p:nvSpPr>
        <p:spPr>
          <a:xfrm>
            <a:off x="8051596" y="1627632"/>
            <a:ext cx="3362858" cy="45720"/>
          </a:xfrm>
          <a:prstGeom prst="rect">
            <a:avLst/>
          </a:prstGeom>
          <a:solidFill>
            <a:srgbClr val="6B5C6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5" name="TextBox 14"/>
          <p:cNvSpPr txBox="1"/>
          <p:nvPr/>
        </p:nvSpPr>
        <p:spPr>
          <a:xfrm>
            <a:off x="777240" y="3794760"/>
            <a:ext cx="10637215" cy="292608"/>
          </a:xfrm>
          <a:prstGeom prst="rect">
            <a:avLst/>
          </a:prstGeom>
          <a:noFill/>
        </p:spPr>
        <p:txBody>
          <a:bodyPr wrap="square" anchor="t" lIns="0" rIns="0" tIns="0" bIns="0"/>
          <a:lstStyle/>
          <a:p>
            <a:r>
              <a:rPr sz="1050" b="1" i="0" spc="140">
                <a:solidFill>
                  <a:srgbClr val="2FBF9B"/>
                </a:solidFill>
                <a:latin typeface="Consolas"/>
              </a:rPr>
              <a:t>CE QUE NOUS CHERCHONS</a:t>
            </a:r>
          </a:p>
        </p:txBody>
      </p:sp>
      <p:sp>
        <p:nvSpPr>
          <p:cNvPr id="16" name="Rectangle 15"/>
          <p:cNvSpPr/>
          <p:nvPr/>
        </p:nvSpPr>
        <p:spPr>
          <a:xfrm>
            <a:off x="777240" y="4105656"/>
            <a:ext cx="10637215" cy="9525"/>
          </a:xfrm>
          <a:prstGeom prst="rect">
            <a:avLst/>
          </a:prstGeom>
          <a:solidFill>
            <a:srgbClr val="2FBF9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7" name="TextBox 16"/>
          <p:cNvSpPr txBox="1"/>
          <p:nvPr/>
        </p:nvSpPr>
        <p:spPr>
          <a:xfrm>
            <a:off x="777240" y="4279392"/>
            <a:ext cx="10637215" cy="1938528"/>
          </a:xfrm>
          <a:prstGeom prst="rect">
            <a:avLst/>
          </a:prstGeom>
          <a:noFill/>
        </p:spPr>
        <p:txBody>
          <a:bodyPr wrap="square" anchor="t" lIns="0" rIns="0" tIns="0" bIns="0"/>
          <a:lstStyle/>
          <a:p>
            <a:pPr>
              <a:lnSpc>
                <a:spcPct val="122000"/>
              </a:lnSpc>
              <a:spcAft>
                <a:spcPts val="500"/>
              </a:spcAft>
            </a:pPr>
            <a:r>
              <a:rPr sz="1150" b="1" i="0">
                <a:solidFill>
                  <a:srgbClr val="2FBF9B"/>
                </a:solidFill>
                <a:latin typeface="Consolas"/>
              </a:rPr>
              <a:t>— </a:t>
            </a:r>
            <a:r>
              <a:rPr sz="1150" b="1" i="0">
                <a:solidFill>
                  <a:srgbClr val="2FBF9B"/>
                </a:solidFill>
                <a:latin typeface="Trebuchet MS"/>
              </a:rPr>
              <a:t>Un budget de lancement</a:t>
            </a:r>
            <a:r>
              <a:rPr sz="1150" b="0" i="0">
                <a:solidFill>
                  <a:srgbClr val="F3E9EE"/>
                </a:solidFill>
                <a:latin typeface="Trebuchet MS"/>
              </a:rPr>
              <a:t> — l'essentiel en acquisition et en amorçage de contenu. Montant à caler avec le plan retenu.</a:t>
            </a:r>
          </a:p>
          <a:p>
            <a:pPr>
              <a:lnSpc>
                <a:spcPct val="122000"/>
              </a:lnSpc>
              <a:spcAft>
                <a:spcPts val="500"/>
              </a:spcAft>
            </a:pPr>
            <a:r>
              <a:rPr sz="1150" b="1" i="0">
                <a:solidFill>
                  <a:srgbClr val="2FBF9B"/>
                </a:solidFill>
                <a:latin typeface="Consolas"/>
              </a:rPr>
              <a:t>— </a:t>
            </a:r>
            <a:r>
              <a:rPr sz="1150" b="1" i="0">
                <a:solidFill>
                  <a:srgbClr val="2FBF9B"/>
                </a:solidFill>
                <a:latin typeface="Trebuchet MS"/>
              </a:rPr>
              <a:t>Des partenaires</a:t>
            </a:r>
            <a:r>
              <a:rPr sz="1150" b="0" i="0">
                <a:solidFill>
                  <a:srgbClr val="F3E9EE"/>
                </a:solidFill>
                <a:latin typeface="Trebuchet MS"/>
              </a:rPr>
              <a:t> paiement, livraison et points de retrait.</a:t>
            </a:r>
          </a:p>
          <a:p>
            <a:pPr>
              <a:lnSpc>
                <a:spcPct val="122000"/>
              </a:lnSpc>
              <a:spcAft>
                <a:spcPts val="500"/>
              </a:spcAft>
            </a:pPr>
            <a:r>
              <a:rPr sz="1150" b="1" i="0">
                <a:solidFill>
                  <a:srgbClr val="2FBF9B"/>
                </a:solidFill>
                <a:latin typeface="Consolas"/>
              </a:rPr>
              <a:t>— </a:t>
            </a:r>
            <a:r>
              <a:rPr sz="1150" b="1" i="0">
                <a:solidFill>
                  <a:srgbClr val="2FBF9B"/>
                </a:solidFill>
                <a:latin typeface="Trebuchet MS"/>
              </a:rPr>
              <a:t>Des vendeurs pilotes</a:t>
            </a:r>
            <a:r>
              <a:rPr sz="1150" b="0" i="0">
                <a:solidFill>
                  <a:srgbClr val="F3E9EE"/>
                </a:solidFill>
                <a:latin typeface="Trebuchet MS"/>
              </a:rPr>
              <a:t> déjà actifs en direct sur le vestimentaire.</a:t>
            </a:r>
          </a:p>
          <a:p>
            <a:pPr>
              <a:lnSpc>
                <a:spcPct val="122000"/>
              </a:lnSpc>
              <a:spcAft>
                <a:spcPts val="500"/>
              </a:spcAft>
            </a:pPr>
            <a:r>
              <a:rPr sz="1150" b="1" i="0">
                <a:solidFill>
                  <a:srgbClr val="2FBF9B"/>
                </a:solidFill>
                <a:latin typeface="Consolas"/>
              </a:rPr>
              <a:t>— </a:t>
            </a:r>
            <a:r>
              <a:rPr sz="1150" b="1" i="0">
                <a:solidFill>
                  <a:srgbClr val="2FBF9B"/>
                </a:solidFill>
                <a:latin typeface="Trebuchet MS"/>
              </a:rPr>
              <a:t>Des créatrices pilotes</a:t>
            </a:r>
            <a:r>
              <a:rPr sz="1150" b="0" i="0">
                <a:solidFill>
                  <a:srgbClr val="F3E9EE"/>
                </a:solidFill>
                <a:latin typeface="Trebuchet MS"/>
              </a:rPr>
              <a:t> prêtes à tester l'affiliation et la précommande.</a:t>
            </a:r>
          </a:p>
        </p:txBody>
      </p:sp>
      <p:sp>
        <p:nvSpPr>
          <p:cNvPr id="18" name="Rectangle 17"/>
          <p:cNvSpPr/>
          <p:nvPr/>
        </p:nvSpPr>
        <p:spPr>
          <a:xfrm>
            <a:off x="777240" y="5669280"/>
            <a:ext cx="2011680" cy="19050"/>
          </a:xfrm>
          <a:prstGeom prst="rect">
            <a:avLst/>
          </a:prstGeom>
          <a:solidFill>
            <a:srgbClr val="E430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p>
        </p:txBody>
      </p:sp>
      <p:sp>
        <p:nvSpPr>
          <p:cNvPr id="19" name="TextBox 18"/>
          <p:cNvSpPr txBox="1"/>
          <p:nvPr/>
        </p:nvSpPr>
        <p:spPr>
          <a:xfrm>
            <a:off x="777240" y="5833872"/>
            <a:ext cx="7315200" cy="457200"/>
          </a:xfrm>
          <a:prstGeom prst="rect">
            <a:avLst/>
          </a:prstGeom>
          <a:noFill/>
        </p:spPr>
        <p:txBody>
          <a:bodyPr wrap="square" anchor="t" lIns="0" rIns="0" tIns="0" bIns="0"/>
          <a:lstStyle/>
          <a:p>
            <a:r>
              <a:rPr sz="1900" b="1" i="0" spc="-40">
                <a:solidFill>
                  <a:srgbClr val="F3E9EE"/>
                </a:solidFill>
                <a:latin typeface="Georgia"/>
              </a:rPr>
              <a:t>JP — Je prends.  </a:t>
            </a:r>
            <a:r>
              <a:rPr sz="1300" b="0" i="1">
                <a:solidFill>
                  <a:srgbClr val="A99AA4"/>
                </a:solidFill>
                <a:latin typeface="Trebuchet MS"/>
              </a:rPr>
              <a:t>Le direct devient une boutique.</a:t>
            </a:r>
          </a:p>
        </p:txBody>
      </p:sp>
      <p:sp>
        <p:nvSpPr>
          <p:cNvPr id="20" name="TextBox 19"/>
          <p:cNvSpPr txBox="1"/>
          <p:nvPr/>
        </p:nvSpPr>
        <p:spPr>
          <a:xfrm>
            <a:off x="8122615" y="5833872"/>
            <a:ext cx="3291840" cy="457200"/>
          </a:xfrm>
          <a:prstGeom prst="rect">
            <a:avLst/>
          </a:prstGeom>
          <a:noFill/>
        </p:spPr>
        <p:txBody>
          <a:bodyPr wrap="square" anchor="t" lIns="0" rIns="0" tIns="0" bIns="0"/>
          <a:lstStyle/>
          <a:p>
            <a:pPr algn="r"/>
            <a:r>
              <a:rPr sz="1050" b="0" i="0" spc="100">
                <a:solidFill>
                  <a:srgbClr val="E8B04B"/>
                </a:solidFill>
                <a:latin typeface="Consolas"/>
              </a:rPr>
              <a:t>Contact : à compléter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JP — Je prends</dc:title>
  <dc:subject>Dossier de présentation — investisseurs &amp; partenaires</dc:subject>
  <dc:creator>JP</dc:creator>
  <cp:keywords/>
  <dc:description>Plateforme de vente en direct et de contenu achetable, spécialisée mode, beauté et chaussures. Aucun chiffre de ce document n'est présenté comme acquis.</dc:description>
  <cp:lastModifiedBy>Steve Canny</cp:lastModifiedBy>
  <cp:revision>1</cp:revision>
  <dcterms:created xsi:type="dcterms:W3CDTF">2013-01-27T09:14:16Z</dcterms:created>
  <dcterms:modified xsi:type="dcterms:W3CDTF">2013-01-27T09:15:58Z</dcterms:modified>
  <cp:category>Pitch deck</cp:category>
</cp:coreProperties>
</file>